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3"/>
    <p:sldMasterId id="2147483682" r:id="rId4"/>
    <p:sldMasterId id="214748368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y="5143500" cx="9144000"/>
  <p:notesSz cx="6858000" cy="9144000"/>
  <p:embeddedFontLst>
    <p:embeddedFont>
      <p:font typeface="Helvetica Neue"/>
      <p:regular r:id="rId50"/>
      <p:bold r:id="rId51"/>
      <p:italic r:id="rId52"/>
      <p:boldItalic r:id="rId53"/>
    </p:embeddedFont>
    <p:embeddedFont>
      <p:font typeface="Helvetica Neue Light"/>
      <p:regular r:id="rId54"/>
      <p:bold r:id="rId55"/>
      <p:italic r:id="rId56"/>
      <p:boldItalic r:id="rId57"/>
    </p:embeddedFont>
    <p:embeddedFont>
      <p:font typeface="Gill Sans"/>
      <p:regular r:id="rId58"/>
      <p:bold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HelveticaNeue-bold.fntdata"/><Relationship Id="rId50" Type="http://schemas.openxmlformats.org/officeDocument/2006/relationships/font" Target="fonts/HelveticaNeue-regular.fntdata"/><Relationship Id="rId53" Type="http://schemas.openxmlformats.org/officeDocument/2006/relationships/font" Target="fonts/HelveticaNeue-boldItalic.fntdata"/><Relationship Id="rId52" Type="http://schemas.openxmlformats.org/officeDocument/2006/relationships/font" Target="fonts/HelveticaNeue-italic.fntdata"/><Relationship Id="rId11" Type="http://schemas.openxmlformats.org/officeDocument/2006/relationships/slide" Target="slides/slide5.xml"/><Relationship Id="rId55" Type="http://schemas.openxmlformats.org/officeDocument/2006/relationships/font" Target="fonts/HelveticaNeueLight-bold.fntdata"/><Relationship Id="rId10" Type="http://schemas.openxmlformats.org/officeDocument/2006/relationships/slide" Target="slides/slide4.xml"/><Relationship Id="rId54" Type="http://schemas.openxmlformats.org/officeDocument/2006/relationships/font" Target="fonts/HelveticaNeueLight-regular.fntdata"/><Relationship Id="rId13" Type="http://schemas.openxmlformats.org/officeDocument/2006/relationships/slide" Target="slides/slide7.xml"/><Relationship Id="rId57" Type="http://schemas.openxmlformats.org/officeDocument/2006/relationships/font" Target="fonts/HelveticaNeueLight-boldItalic.fntdata"/><Relationship Id="rId12" Type="http://schemas.openxmlformats.org/officeDocument/2006/relationships/slide" Target="slides/slide6.xml"/><Relationship Id="rId56" Type="http://schemas.openxmlformats.org/officeDocument/2006/relationships/font" Target="fonts/HelveticaNeueLight-italic.fntdata"/><Relationship Id="rId15" Type="http://schemas.openxmlformats.org/officeDocument/2006/relationships/slide" Target="slides/slide9.xml"/><Relationship Id="rId59" Type="http://schemas.openxmlformats.org/officeDocument/2006/relationships/font" Target="fonts/GillSans-bold.fntdata"/><Relationship Id="rId14" Type="http://schemas.openxmlformats.org/officeDocument/2006/relationships/slide" Target="slides/slide8.xml"/><Relationship Id="rId58" Type="http://schemas.openxmlformats.org/officeDocument/2006/relationships/font" Target="fonts/GillSans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7be483e10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27be483e10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7be397cc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7be397cc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7be397cce_0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27be397cce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7be483e3f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" name="Google Shape;170;g27be483e3f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loss = (\hat{y}-y)^2 = (x*w-y)^2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\frac{\partial{loss}}{\partial{w}}=?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7be483e3f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g27be483e3f_0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loss = (\hat{y}-y)^2 = (x*w-y)^2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\frac{\partial{loss}}{\partial{w}}=?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7be483e3f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g27be483e3f_0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loss = (\hat{y}-y)^2 = (x*w-y)^2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\frac{\partial{loss}}{\partial{w}}=?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813e29b7e_2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813e29b7e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7be483e3f_0_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27be483e3f_0_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7be483e3f_0_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27be483e3f_0_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7be483e3f_0_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27be483e3f_0_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7be483e3f_0_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27be483e3f_0_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7be483e3f_0_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27be483e3f_0_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7be483e3f_0_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27be483e3f_0_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7be483e3f_0_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27be483e3f_0_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7be483e3f_0_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27be483e3f_0_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813e29b7e_22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2813e29b7e_22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7be397cce_3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27be397cce_3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7be397cce_3_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27be397cce_3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7be483e3f_0_1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9" name="Google Shape;329;g27be483e3f_0_1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loss = (\hat{y}-y)^2 = (x*w-y)^2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\frac{\partial{loss}}{\partial{w}}=?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7be483e3f_0_1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g27be483e3f_0_1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loss = (\hat{y}-y)^2 = (x*w-y)^2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\frac{\partial{loss}}{\partial{w}}=?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7be483e3f_0_1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g27be483e3f_0_1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loss = (\hat{y}-y)^2 = (x*w-y)^2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\frac{\partial{loss}}{\partial{w}}=?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7be483e3f_0_1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g27be483e3f_0_1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loss = (\hat{y}-y)^2 = (x*w-y)^2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\frac{\partial{loss}}{\partial{w}}=?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\frac{\partial{z-y}}{\partial{}z}=1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7be483e3f_0_1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g27be483e3f_0_1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loss = (\hat{y}-y)^2 = (x*w-y)^2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\frac{\partial{loss}}{\partial{w}}=?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7be483e3f_0_1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g27be483e3f_0_1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\frac{\partial{\hat{y}-y}}{\partial{\hat{y}}}=1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7be483e3f_0_1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g27be483e3f_0_19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\frac{\partial{\hat{y}-y}}{\partial{\hat{y}}}=1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\frac{\partial{loss}}{\partial{s}}=2s=-2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—-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\frac{\partial{loss}}{\partial{\hat{y}}}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\frac{\partial{loss}}{\partial{s}}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\frac{\partial{s}}{\partial{\hat{y}}}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=-2*1=-2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—-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813e29b7e_22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g2813e29b7e_22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\frac{\partial{\hat{y}-y}}{\partial{\hat{y}}}=1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\frac{\partial{loss}}{\partial{s}}=2s=-2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—-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\frac{\partial{loss}}{\partial{\hat{y}}}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\frac{\partial{loss}}{\partial{s}}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\frac{\partial{s}}{\partial{\hat{y}}}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=-2*1=-2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—-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7be483e3f_0_2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5" name="Google Shape;445;g27be483e3f_0_2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\frac{\partial{\hat{y}-y}}{\partial{\hat{y}}}=1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7be483e3f_0_2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1" name="Google Shape;461;g27be483e3f_0_2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loss = (\hat{y}-y)^2 = (x*w-y)^2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\frac{\partial{loss}}{\partial{w}}=?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7be483e3f_0_2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27be483e3f_0_2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7be483e3f_0_2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27be483e3f_0_2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7be483e3f_0_2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27be483e3f_0_2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7be483e3f_0_2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27be483e3f_0_2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7be483e3f_0_2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27be483e3f_0_2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7be483e3f_0_28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27be483e3f_0_2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7be483e3f_0_2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27be483e3f_0_2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7be483e3f_0_2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2" name="Google Shape;532;g27be483e3f_0_29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loss = (\hat{y}-y)^2 = (x*w-y)^2</a:t>
            </a:r>
            <a:endParaRPr/>
          </a:p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\frac{\partial{loss}}{\partial{w}}=?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7be483e3f_0_3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8" name="Google Shape;538;g27be483e3f_0_3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\frac{\partial{\hat{y}-y}}{\partial{\hat{y}}}=1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27be483e3f_0_3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1" name="Google Shape;551;g27be483e3f_0_3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\frac{\partial{\hat{y}-y}}{\partial{\hat{y}}}=1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7be483e3f_0_3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5" name="Google Shape;565;g27be483e3f_0_3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\frac{\partial{\hat{y}-y}}{\partial{\hat{y}}}=1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7ca99a243_27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g27ca99a243_27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\frac{\partial{\hat{y}-y}}{\partial{\hat{y}}}=1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7c13ef2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27c13ef2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7c13ef29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27c13ef29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7be483e3f_0_3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g27be483e3f_0_3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889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1778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2540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3429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4318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5207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5969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685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1812726" y="2658814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Helvetica Neue"/>
              <a:buNone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Helvetica Neue"/>
              <a:buNone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438150" lvl="5" marL="2743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438150" lvl="6" marL="3200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438150" lvl="7" marL="3657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438150" lvl="8" marL="4114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4482789" y="4902398"/>
            <a:ext cx="1749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cop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431625" y="573732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889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1778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2540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3429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4318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5207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5969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685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495458" y="1595065"/>
            <a:ext cx="8081400" cy="31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4381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Gill Sans"/>
              <a:buChar char="-"/>
              <a:defRPr b="0" i="0" sz="1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1275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Gill Sans"/>
              <a:buChar char="•"/>
              <a:defRPr b="0" i="0" sz="1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127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Gill Sans"/>
              <a:buChar char="•"/>
              <a:defRPr b="0" i="0" sz="1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127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Gill Sans"/>
              <a:buChar char="•"/>
              <a:defRPr b="0" i="0" sz="1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438150" lvl="5" marL="2743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438150" lvl="6" marL="3200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438150" lvl="7" marL="3657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438150" lvl="8" marL="4114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4494628" y="4304667"/>
            <a:ext cx="1497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0100" lIns="20100" spcFirstLastPara="1" rIns="20100" wrap="square" tIns="201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-8189" y="133945"/>
            <a:ext cx="9160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889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1778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2540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3429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4318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5207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5969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685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80210" y="1460004"/>
            <a:ext cx="87834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5085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Char char="•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5085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5085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5085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438150" lvl="5" marL="2743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438150" lvl="6" marL="3200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438150" lvl="7" marL="3657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438150" lvl="8" marL="4114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4482425" y="4882307"/>
            <a:ext cx="1725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8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 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889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1778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2540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3429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4318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5207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5969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685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1812726" y="1460004"/>
            <a:ext cx="55185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5085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Char char="•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5085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5085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5085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Helvetica Neue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438150" lvl="5" marL="2743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438150" lvl="6" marL="3200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438150" lvl="7" marL="3657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438150" lvl="8" marL="4114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4482425" y="4882307"/>
            <a:ext cx="1725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8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4482789" y="4902398"/>
            <a:ext cx="1749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 Light"/>
              <a:buNone/>
              <a:defRPr b="0" i="0" sz="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x">
  <p:cSld name="TITLE_AND_BOD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4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>
            <a:off x="1812726" y="2652117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1812726" y="1460004"/>
            <a:ext cx="55185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Symbols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•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 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/>
          <p:nvPr>
            <p:ph type="title"/>
          </p:nvPr>
        </p:nvSpPr>
        <p:spPr>
          <a:xfrm>
            <a:off x="-8188" y="133945"/>
            <a:ext cx="9160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180210" y="1460004"/>
            <a:ext cx="87834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Symbols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•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 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type="title"/>
          </p:nvPr>
        </p:nvSpPr>
        <p:spPr>
          <a:xfrm>
            <a:off x="1645295" y="234404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1645295" y="1372939"/>
            <a:ext cx="58533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type="title"/>
          </p:nvPr>
        </p:nvSpPr>
        <p:spPr>
          <a:xfrm>
            <a:off x="449746" y="229118"/>
            <a:ext cx="82419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4419600" y="4629150"/>
            <a:ext cx="21336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 4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26"/>
          <p:cNvSpPr txBox="1"/>
          <p:nvPr>
            <p:ph idx="1" type="body"/>
          </p:nvPr>
        </p:nvSpPr>
        <p:spPr>
          <a:xfrm>
            <a:off x="1812726" y="1460004"/>
            <a:ext cx="55185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Symbols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•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26"/>
          <p:cNvSpPr txBox="1"/>
          <p:nvPr>
            <p:ph idx="12" type="sldNum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27"/>
          <p:cNvSpPr txBox="1"/>
          <p:nvPr>
            <p:ph idx="1" type="body"/>
          </p:nvPr>
        </p:nvSpPr>
        <p:spPr>
          <a:xfrm>
            <a:off x="1812726" y="2652117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7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Horizontal">
  <p:cSld name="Photo - Horizontal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8"/>
          <p:cNvSpPr/>
          <p:nvPr>
            <p:ph idx="2" type="pic"/>
          </p:nvPr>
        </p:nvSpPr>
        <p:spPr>
          <a:xfrm>
            <a:off x="1990204" y="334863"/>
            <a:ext cx="51570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28"/>
          <p:cNvSpPr txBox="1"/>
          <p:nvPr>
            <p:ph type="title"/>
          </p:nvPr>
        </p:nvSpPr>
        <p:spPr>
          <a:xfrm>
            <a:off x="1812726" y="3542854"/>
            <a:ext cx="55185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28"/>
          <p:cNvSpPr txBox="1"/>
          <p:nvPr>
            <p:ph idx="1" type="body"/>
          </p:nvPr>
        </p:nvSpPr>
        <p:spPr>
          <a:xfrm>
            <a:off x="1812726" y="4319736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8"/>
          <p:cNvSpPr txBox="1"/>
          <p:nvPr>
            <p:ph idx="12" type="sldNum"/>
          </p:nvPr>
        </p:nvSpPr>
        <p:spPr>
          <a:xfrm>
            <a:off x="4475930" y="4875609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>
  <p:cSld name="Title - Cent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/>
          <p:nvPr>
            <p:ph type="title"/>
          </p:nvPr>
        </p:nvSpPr>
        <p:spPr>
          <a:xfrm>
            <a:off x="1812726" y="1701105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9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Vertical">
  <p:cSld name="Photo - Vertical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0"/>
          <p:cNvSpPr/>
          <p:nvPr>
            <p:ph idx="2" type="pic"/>
          </p:nvPr>
        </p:nvSpPr>
        <p:spPr>
          <a:xfrm>
            <a:off x="4685854" y="334863"/>
            <a:ext cx="2812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30"/>
          <p:cNvSpPr txBox="1"/>
          <p:nvPr>
            <p:ph type="title"/>
          </p:nvPr>
        </p:nvSpPr>
        <p:spPr>
          <a:xfrm>
            <a:off x="1645295" y="334863"/>
            <a:ext cx="28128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30"/>
          <p:cNvSpPr txBox="1"/>
          <p:nvPr>
            <p:ph idx="1" type="body"/>
          </p:nvPr>
        </p:nvSpPr>
        <p:spPr>
          <a:xfrm>
            <a:off x="1645295" y="2511474"/>
            <a:ext cx="2812800" cy="21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30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1"/>
          <p:cNvSpPr txBox="1"/>
          <p:nvPr>
            <p:ph type="title"/>
          </p:nvPr>
        </p:nvSpPr>
        <p:spPr>
          <a:xfrm>
            <a:off x="1645295" y="234404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31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2"/>
          <p:cNvSpPr/>
          <p:nvPr>
            <p:ph idx="2" type="pic"/>
          </p:nvPr>
        </p:nvSpPr>
        <p:spPr>
          <a:xfrm>
            <a:off x="4685854" y="1372939"/>
            <a:ext cx="28128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32"/>
          <p:cNvSpPr txBox="1"/>
          <p:nvPr>
            <p:ph type="title"/>
          </p:nvPr>
        </p:nvSpPr>
        <p:spPr>
          <a:xfrm>
            <a:off x="1645295" y="234404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32"/>
          <p:cNvSpPr txBox="1"/>
          <p:nvPr>
            <p:ph idx="1" type="body"/>
          </p:nvPr>
        </p:nvSpPr>
        <p:spPr>
          <a:xfrm>
            <a:off x="1645295" y="1372939"/>
            <a:ext cx="28128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32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3"/>
          <p:cNvSpPr txBox="1"/>
          <p:nvPr>
            <p:ph idx="1" type="body"/>
          </p:nvPr>
        </p:nvSpPr>
        <p:spPr>
          <a:xfrm>
            <a:off x="1645295" y="669726"/>
            <a:ext cx="5853300" cy="38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33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4"/>
          <p:cNvSpPr/>
          <p:nvPr>
            <p:ph idx="2" type="pic"/>
          </p:nvPr>
        </p:nvSpPr>
        <p:spPr>
          <a:xfrm>
            <a:off x="4685854" y="2685604"/>
            <a:ext cx="2812800" cy="19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34"/>
          <p:cNvSpPr/>
          <p:nvPr>
            <p:ph idx="3" type="pic"/>
          </p:nvPr>
        </p:nvSpPr>
        <p:spPr>
          <a:xfrm>
            <a:off x="4689132" y="468808"/>
            <a:ext cx="2812800" cy="19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34"/>
          <p:cNvSpPr/>
          <p:nvPr>
            <p:ph idx="4" type="pic"/>
          </p:nvPr>
        </p:nvSpPr>
        <p:spPr>
          <a:xfrm>
            <a:off x="1645295" y="468808"/>
            <a:ext cx="2812800" cy="4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34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5"/>
          <p:cNvSpPr txBox="1"/>
          <p:nvPr>
            <p:ph idx="1" type="body"/>
          </p:nvPr>
        </p:nvSpPr>
        <p:spPr>
          <a:xfrm>
            <a:off x="1812726" y="3355330"/>
            <a:ext cx="5518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35"/>
          <p:cNvSpPr txBox="1"/>
          <p:nvPr>
            <p:ph idx="2" type="body"/>
          </p:nvPr>
        </p:nvSpPr>
        <p:spPr>
          <a:xfrm>
            <a:off x="1812726" y="2250132"/>
            <a:ext cx="5518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35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6"/>
          <p:cNvSpPr/>
          <p:nvPr>
            <p:ph idx="2" type="pic"/>
          </p:nvPr>
        </p:nvSpPr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36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31625" y="573732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8890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17780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25400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34290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43180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52070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59690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68580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95458" y="1595065"/>
            <a:ext cx="8081400" cy="313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4381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Gill Sans"/>
              <a:buChar char="-"/>
              <a:defRPr b="0" i="0" sz="1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1275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Gill Sans"/>
              <a:buChar char="•"/>
              <a:defRPr b="0" i="0" sz="1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127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Gill Sans"/>
              <a:buChar char="•"/>
              <a:defRPr b="0" i="0" sz="1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127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Gill Sans"/>
              <a:buChar char="•"/>
              <a:defRPr b="0" i="0" sz="1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438150" lvl="5" marL="2743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438150" lvl="6" marL="3200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438150" lvl="7" marL="3657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438150" lvl="8" marL="4114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Gill Sans"/>
              <a:buChar char="•"/>
              <a:def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494628" y="4304667"/>
            <a:ext cx="1497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0100" lIns="20100" spcFirstLastPara="1" rIns="20100" wrap="square" tIns="201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449746" y="229118"/>
            <a:ext cx="82419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457200" y="1200150"/>
            <a:ext cx="82296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4419600" y="4629150"/>
            <a:ext cx="21336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5.png"/><Relationship Id="rId4" Type="http://schemas.openxmlformats.org/officeDocument/2006/relationships/image" Target="../media/image9.png"/><Relationship Id="rId9" Type="http://schemas.openxmlformats.org/officeDocument/2006/relationships/hyperlink" Target="http://bit.ly/PyTorchVideo" TargetMode="External"/><Relationship Id="rId5" Type="http://schemas.openxmlformats.org/officeDocument/2006/relationships/image" Target="../media/image2.png"/><Relationship Id="rId6" Type="http://schemas.openxmlformats.org/officeDocument/2006/relationships/hyperlink" Target="mailto:hunkim+ml@gmail.com" TargetMode="External"/><Relationship Id="rId7" Type="http://schemas.openxmlformats.org/officeDocument/2006/relationships/hyperlink" Target="https://github.com/hunkim/PyTorchZeroToAll" TargetMode="External"/><Relationship Id="rId8" Type="http://schemas.openxmlformats.org/officeDocument/2006/relationships/hyperlink" Target="http://bit.ly/PyTorchZeroAll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bit.ly/PyTorchZeroAll" TargetMode="External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5.png"/><Relationship Id="rId4" Type="http://schemas.openxmlformats.org/officeDocument/2006/relationships/image" Target="../media/image9.png"/><Relationship Id="rId9" Type="http://schemas.openxmlformats.org/officeDocument/2006/relationships/image" Target="../media/image2.png"/><Relationship Id="rId5" Type="http://schemas.openxmlformats.org/officeDocument/2006/relationships/hyperlink" Target="mailto:hunkim+ml@gmail.com" TargetMode="External"/><Relationship Id="rId6" Type="http://schemas.openxmlformats.org/officeDocument/2006/relationships/hyperlink" Target="https://github.com/hunkim/PyTorchZeroToAll" TargetMode="External"/><Relationship Id="rId7" Type="http://schemas.openxmlformats.org/officeDocument/2006/relationships/hyperlink" Target="http://bit.ly/PyTorchZeroAll" TargetMode="External"/><Relationship Id="rId8" Type="http://schemas.openxmlformats.org/officeDocument/2006/relationships/hyperlink" Target="http://bit.ly/PyTorchVideo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hyperlink" Target="http://mathinsight.org/image/function_machines_composed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30.png"/><Relationship Id="rId8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26.png"/><Relationship Id="rId13" Type="http://schemas.openxmlformats.org/officeDocument/2006/relationships/image" Target="../media/image34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Relationship Id="rId14" Type="http://schemas.openxmlformats.org/officeDocument/2006/relationships/image" Target="../media/image20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30.png"/><Relationship Id="rId8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0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35.png"/><Relationship Id="rId7" Type="http://schemas.openxmlformats.org/officeDocument/2006/relationships/image" Target="../media/image4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jpg"/><Relationship Id="rId4" Type="http://schemas.openxmlformats.org/officeDocument/2006/relationships/hyperlink" Target="http://pytorch.org/docs/master/notes/autograd.html?highlight=variable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gif"/><Relationship Id="rId4" Type="http://schemas.openxmlformats.org/officeDocument/2006/relationships/image" Target="../media/image38.jpg"/><Relationship Id="rId5" Type="http://schemas.openxmlformats.org/officeDocument/2006/relationships/hyperlink" Target="http://pytorch.org/docs/master/notes/autograd.html?highlight=variable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8.jpg"/><Relationship Id="rId4" Type="http://schemas.openxmlformats.org/officeDocument/2006/relationships/image" Target="../media/image37.png"/><Relationship Id="rId5" Type="http://schemas.openxmlformats.org/officeDocument/2006/relationships/image" Target="../media/image3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jpg"/><Relationship Id="rId4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145" name="Google Shape;14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3094"/>
            <a:ext cx="9143999" cy="2847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146" name="Google Shape;14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2941" y="1239342"/>
            <a:ext cx="2049525" cy="55686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7"/>
          <p:cNvSpPr txBox="1"/>
          <p:nvPr>
            <p:ph idx="4294967295" type="ctrTitle"/>
          </p:nvPr>
        </p:nvSpPr>
        <p:spPr>
          <a:xfrm>
            <a:off x="628447" y="14103"/>
            <a:ext cx="61266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ML/DL for </a:t>
            </a:r>
            <a:r>
              <a:rPr b="0" i="0" lang="en" sz="42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Everyone</a:t>
            </a: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" sz="2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</a:t>
            </a:r>
            <a:r>
              <a:rPr b="0" i="0" lang="en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</p:txBody>
      </p:sp>
      <p:pic>
        <p:nvPicPr>
          <p:cNvPr descr="Image" id="148" name="Google Shape;148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5806" y="4711991"/>
            <a:ext cx="756518" cy="40947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7"/>
          <p:cNvSpPr txBox="1"/>
          <p:nvPr/>
        </p:nvSpPr>
        <p:spPr>
          <a:xfrm>
            <a:off x="1508718" y="647304"/>
            <a:ext cx="61266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Font typeface="Helvetica Neue"/>
              <a:buNone/>
            </a:pPr>
            <a:r>
              <a:rPr b="0" i="0" lang="en" sz="3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Lecture 4: Back-propagation</a:t>
            </a:r>
            <a:endParaRPr sz="500"/>
          </a:p>
        </p:txBody>
      </p:sp>
      <p:sp>
        <p:nvSpPr>
          <p:cNvPr id="150" name="Google Shape;150;p37"/>
          <p:cNvSpPr txBox="1"/>
          <p:nvPr>
            <p:ph idx="4294967295" type="subTitle"/>
          </p:nvPr>
        </p:nvSpPr>
        <p:spPr>
          <a:xfrm>
            <a:off x="0" y="4286750"/>
            <a:ext cx="4159500" cy="873900"/>
          </a:xfrm>
          <a:prstGeom prst="rect">
            <a:avLst/>
          </a:prstGeom>
          <a:gradFill>
            <a:gsLst>
              <a:gs pos="0">
                <a:srgbClr val="55C1FF">
                  <a:alpha val="77647"/>
                </a:srgbClr>
              </a:gs>
              <a:gs pos="100000">
                <a:srgbClr val="0076B9">
                  <a:alpha val="77647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Sung Kim &lt;</a:t>
            </a:r>
            <a:r>
              <a:rPr b="0" i="0" lang="en" sz="1600" u="sng" cap="none" strike="noStrike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hunkim+ml@gmail.com</a:t>
            </a:r>
            <a:r>
              <a:rPr b="0" i="0" lang="en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HKUST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Code: </a:t>
            </a:r>
            <a:r>
              <a:rPr b="0" i="0" lang="en" sz="1300" u="sng" cap="none" strike="noStrike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https://github.com/hunkim/PyTorchZeroToAll</a:t>
            </a:r>
            <a:r>
              <a:rPr b="0" i="0" lang="en" sz="1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Helvetica Neue"/>
              <a:buNone/>
            </a:pPr>
            <a:r>
              <a:rPr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Slides: </a:t>
            </a:r>
            <a:r>
              <a:rPr lang="en" sz="1300" u="sng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http://bit.ly/PyTorchZeroAll</a:t>
            </a:r>
            <a:r>
              <a:rPr lang="en" sz="1300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300">
              <a:solidFill>
                <a:srgbClr val="FFFF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Helvetica Neue"/>
              <a:buNone/>
            </a:pPr>
            <a:r>
              <a:rPr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Videos: </a:t>
            </a:r>
            <a:r>
              <a:rPr lang="en" sz="1300" u="sng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http://bit.ly/PyTorchVideo</a:t>
            </a:r>
            <a:r>
              <a:rPr lang="en" sz="1300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300">
              <a:solidFill>
                <a:srgbClr val="FFFF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8"/>
          <p:cNvSpPr txBox="1"/>
          <p:nvPr>
            <p:ph type="title"/>
          </p:nvPr>
        </p:nvSpPr>
        <p:spPr>
          <a:xfrm>
            <a:off x="0" y="8075"/>
            <a:ext cx="9073200" cy="1488000"/>
          </a:xfrm>
          <a:prstGeom prst="rect">
            <a:avLst/>
          </a:prstGeom>
        </p:spPr>
        <p:txBody>
          <a:bodyPr anchorCtr="0" anchor="b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for Comments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Please feel free to add comments directly on these slides.</a:t>
            </a:r>
            <a:endParaRPr sz="2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Other slides: </a:t>
            </a:r>
            <a:r>
              <a:rPr lang="en" sz="2800" u="sng">
                <a:solidFill>
                  <a:schemeClr val="hlink"/>
                </a:solidFill>
                <a:hlinkClick r:id="rId3"/>
              </a:rPr>
              <a:t>http://bit.ly/PyTorchZeroAll</a:t>
            </a:r>
            <a:r>
              <a:rPr lang="en" sz="2800"/>
              <a:t>      </a:t>
            </a:r>
            <a:endParaRPr sz="2800"/>
          </a:p>
        </p:txBody>
      </p:sp>
      <p:sp>
        <p:nvSpPr>
          <p:cNvPr id="156" name="Google Shape;156;p38"/>
          <p:cNvSpPr txBox="1"/>
          <p:nvPr/>
        </p:nvSpPr>
        <p:spPr>
          <a:xfrm>
            <a:off x="5446800" y="4728475"/>
            <a:ext cx="40647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Picture from http://www.tssablog.org/archives/3280</a:t>
            </a:r>
            <a:endParaRPr sz="1200"/>
          </a:p>
        </p:txBody>
      </p:sp>
      <p:pic>
        <p:nvPicPr>
          <p:cNvPr id="157" name="Google Shape;15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2442" y="1538300"/>
            <a:ext cx="6008308" cy="332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162" name="Google Shape;16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313094"/>
            <a:ext cx="9143999" cy="2847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163" name="Google Shape;16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2941" y="1239342"/>
            <a:ext cx="2049525" cy="55686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9"/>
          <p:cNvSpPr txBox="1"/>
          <p:nvPr>
            <p:ph idx="4294967295" type="ctrTitle"/>
          </p:nvPr>
        </p:nvSpPr>
        <p:spPr>
          <a:xfrm>
            <a:off x="628447" y="14103"/>
            <a:ext cx="61266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ML/DL for </a:t>
            </a:r>
            <a:r>
              <a:rPr b="0" i="0" lang="en" sz="42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Everyone</a:t>
            </a: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" sz="2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</a:t>
            </a:r>
            <a:r>
              <a:rPr b="0" i="0" lang="en" sz="3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</p:txBody>
      </p:sp>
      <p:sp>
        <p:nvSpPr>
          <p:cNvPr id="165" name="Google Shape;165;p39"/>
          <p:cNvSpPr txBox="1"/>
          <p:nvPr>
            <p:ph idx="4294967295" type="subTitle"/>
          </p:nvPr>
        </p:nvSpPr>
        <p:spPr>
          <a:xfrm>
            <a:off x="0" y="4286750"/>
            <a:ext cx="4159500" cy="873900"/>
          </a:xfrm>
          <a:prstGeom prst="rect">
            <a:avLst/>
          </a:prstGeom>
          <a:gradFill>
            <a:gsLst>
              <a:gs pos="0">
                <a:srgbClr val="55C1FF">
                  <a:alpha val="77647"/>
                </a:srgbClr>
              </a:gs>
              <a:gs pos="100000">
                <a:srgbClr val="0076B9">
                  <a:alpha val="77647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Sung Kim &lt;</a:t>
            </a:r>
            <a:r>
              <a:rPr b="0" i="0" lang="en" sz="1600" u="sng" cap="none" strike="noStrike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hunkim+ml@gmail.com</a:t>
            </a:r>
            <a:r>
              <a:rPr b="0" i="0" lang="en" sz="1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&gt; HKUST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rPr b="0" i="0" lang="en" sz="13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Code: </a:t>
            </a:r>
            <a:r>
              <a:rPr b="0" i="0" lang="en" sz="1300" u="sng" cap="none" strike="noStrike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https://github.com/hunkim/PyTorchZeroToAll</a:t>
            </a:r>
            <a:r>
              <a:rPr b="0" i="0" lang="en" sz="1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3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Helvetica Neue"/>
              <a:buNone/>
            </a:pPr>
            <a:r>
              <a:rPr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Slides: </a:t>
            </a:r>
            <a:r>
              <a:rPr lang="en" sz="1300" u="sng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http://bit.ly/PyTorchZeroAll</a:t>
            </a:r>
            <a:r>
              <a:rPr lang="en" sz="1300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300">
              <a:solidFill>
                <a:srgbClr val="FFFF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Helvetica Neue"/>
              <a:buNone/>
            </a:pPr>
            <a:r>
              <a:rPr lang="en" sz="1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Videos: </a:t>
            </a:r>
            <a:r>
              <a:rPr lang="en" sz="1300" u="sng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http://bit.ly/PyTorchVideo</a:t>
            </a:r>
            <a:r>
              <a:rPr lang="en" sz="1300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300">
              <a:solidFill>
                <a:srgbClr val="FFFF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166" name="Google Shape;166;p3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5806" y="4711991"/>
            <a:ext cx="756518" cy="40947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9"/>
          <p:cNvSpPr txBox="1"/>
          <p:nvPr/>
        </p:nvSpPr>
        <p:spPr>
          <a:xfrm>
            <a:off x="530100" y="647300"/>
            <a:ext cx="80661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Font typeface="Helvetica Neue"/>
              <a:buNone/>
            </a:pPr>
            <a:r>
              <a:rPr b="0" i="0" lang="en" sz="3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Lecture 4: Back-propagation &amp; Autograd</a:t>
            </a:r>
            <a:endParaRPr sz="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0"/>
          <p:cNvSpPr txBox="1"/>
          <p:nvPr>
            <p:ph type="title"/>
          </p:nvPr>
        </p:nvSpPr>
        <p:spPr>
          <a:xfrm>
            <a:off x="284537" y="210584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Computing gradient in simple network</a:t>
            </a:r>
            <a:endParaRPr/>
          </a:p>
        </p:txBody>
      </p:sp>
      <p:grpSp>
        <p:nvGrpSpPr>
          <p:cNvPr id="173" name="Google Shape;173;p40"/>
          <p:cNvGrpSpPr/>
          <p:nvPr/>
        </p:nvGrpSpPr>
        <p:grpSpPr>
          <a:xfrm>
            <a:off x="3316678" y="1507910"/>
            <a:ext cx="2216439" cy="476213"/>
            <a:chOff x="0" y="0"/>
            <a:chExt cx="5910503" cy="1269900"/>
          </a:xfrm>
        </p:grpSpPr>
        <p:sp>
          <p:nvSpPr>
            <p:cNvPr id="174" name="Google Shape;174;p40"/>
            <p:cNvSpPr/>
            <p:nvPr/>
          </p:nvSpPr>
          <p:spPr>
            <a:xfrm>
              <a:off x="1999927" y="0"/>
              <a:ext cx="2007000" cy="1269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26775" lIns="26775" spcFirstLastPara="1" rIns="26775" wrap="square" tIns="26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Font typeface="Helvetica Neue"/>
                <a:buNone/>
              </a:pPr>
              <a:r>
                <a:rPr b="0" i="0" lang="en" sz="11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Linear</a:t>
              </a:r>
              <a:endParaRPr sz="500"/>
            </a:p>
          </p:txBody>
        </p:sp>
        <p:pic>
          <p:nvPicPr>
            <p:cNvPr descr="Image" id="175" name="Google Shape;175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3981" y="59740"/>
              <a:ext cx="776522" cy="11505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" id="176" name="Google Shape;176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218680"/>
              <a:ext cx="832583" cy="83258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7" name="Google Shape;177;p40"/>
            <p:cNvCxnSpPr/>
            <p:nvPr/>
          </p:nvCxnSpPr>
          <p:spPr>
            <a:xfrm>
              <a:off x="727459" y="635000"/>
              <a:ext cx="11025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med" w="med" type="triangle"/>
            </a:ln>
          </p:spPr>
        </p:cxnSp>
        <p:cxnSp>
          <p:nvCxnSpPr>
            <p:cNvPr id="178" name="Google Shape;178;p40"/>
            <p:cNvCxnSpPr/>
            <p:nvPr/>
          </p:nvCxnSpPr>
          <p:spPr>
            <a:xfrm>
              <a:off x="4089131" y="635000"/>
              <a:ext cx="1102500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miter lim="400000"/>
              <a:headEnd len="sm" w="sm" type="none"/>
              <a:tailEnd len="med" w="med" type="triangle"/>
            </a:ln>
          </p:spPr>
        </p:cxnSp>
      </p:grpSp>
      <p:sp>
        <p:nvSpPr>
          <p:cNvPr id="179" name="Google Shape;179;p40"/>
          <p:cNvSpPr txBox="1"/>
          <p:nvPr/>
        </p:nvSpPr>
        <p:spPr>
          <a:xfrm>
            <a:off x="2880775" y="3524025"/>
            <a:ext cx="3669300" cy="7755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Arial"/>
              <a:buNone/>
            </a:pPr>
            <a:r>
              <a:rPr i="1" lang="en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# compute gradient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1480"/>
              </a:buClr>
              <a:buFont typeface="Arial"/>
              <a:buNone/>
            </a:pPr>
            <a:r>
              <a:rPr b="1" i="0" lang="en" u="none" cap="none" strike="noStrike">
                <a:solidFill>
                  <a:srgbClr val="011480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i="0" lang="en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gradient(x, y):  </a:t>
            </a:r>
            <a:r>
              <a:rPr i="1" lang="en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# d_loss/d_w</a:t>
            </a:r>
            <a:endParaRPr b="1" i="1" u="none" cap="none" strike="noStrike">
              <a:solidFill>
                <a:srgbClr val="80808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Arial"/>
              <a:buNone/>
            </a:pPr>
            <a:r>
              <a:rPr i="1" lang="en" u="none" cap="none" strike="noStrike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" u="none" cap="none" strike="noStrike">
                <a:solidFill>
                  <a:srgbClr val="011480"/>
                </a:solidFill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i="0" lang="en" u="none" cap="none" strike="noStrike">
                <a:solidFill>
                  <a:srgbClr val="0432FF"/>
                </a:solidFill>
                <a:latin typeface="Consolas"/>
                <a:ea typeface="Consolas"/>
                <a:cs typeface="Consolas"/>
                <a:sym typeface="Consolas"/>
              </a:rPr>
              <a:t>2 </a:t>
            </a:r>
            <a:r>
              <a:rPr i="0" lang="en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 x * (x * w - y)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80" name="Google Shape;180;p40"/>
          <p:cNvGrpSpPr/>
          <p:nvPr/>
        </p:nvGrpSpPr>
        <p:grpSpPr>
          <a:xfrm>
            <a:off x="3105250" y="2495700"/>
            <a:ext cx="2639462" cy="679800"/>
            <a:chOff x="2416850" y="2487775"/>
            <a:chExt cx="2639462" cy="679800"/>
          </a:xfrm>
        </p:grpSpPr>
        <p:pic>
          <p:nvPicPr>
            <p:cNvPr descr="Image" id="181" name="Google Shape;181;p4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087616" y="2518354"/>
              <a:ext cx="968696" cy="5288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40"/>
            <p:cNvSpPr txBox="1"/>
            <p:nvPr/>
          </p:nvSpPr>
          <p:spPr>
            <a:xfrm>
              <a:off x="2416850" y="2487775"/>
              <a:ext cx="1608300" cy="6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Gradient of </a:t>
              </a:r>
              <a:r>
                <a:rPr b="1" lang="en"/>
                <a:t>loss</a:t>
              </a:r>
              <a:r>
                <a:rPr lang="en"/>
                <a:t> with respect to </a:t>
              </a:r>
              <a:r>
                <a:rPr b="1" i="1" lang="en"/>
                <a:t>w</a:t>
              </a:r>
              <a:endParaRPr b="1" i="1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1"/>
          <p:cNvSpPr txBox="1"/>
          <p:nvPr>
            <p:ph type="title"/>
          </p:nvPr>
        </p:nvSpPr>
        <p:spPr>
          <a:xfrm>
            <a:off x="284537" y="210584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Complicated network?</a:t>
            </a:r>
            <a:endParaRPr/>
          </a:p>
        </p:txBody>
      </p:sp>
      <p:pic>
        <p:nvPicPr>
          <p:cNvPr descr="Image" id="188" name="Google Shape;18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3139" y="1460103"/>
            <a:ext cx="5203012" cy="2595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41"/>
          <p:cNvGrpSpPr/>
          <p:nvPr/>
        </p:nvGrpSpPr>
        <p:grpSpPr>
          <a:xfrm>
            <a:off x="3252275" y="4223075"/>
            <a:ext cx="2639462" cy="679800"/>
            <a:chOff x="2416850" y="2487775"/>
            <a:chExt cx="2639462" cy="679800"/>
          </a:xfrm>
        </p:grpSpPr>
        <p:pic>
          <p:nvPicPr>
            <p:cNvPr descr="Image" id="190" name="Google Shape;190;p4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87616" y="2518354"/>
              <a:ext cx="968696" cy="5288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41"/>
            <p:cNvSpPr txBox="1"/>
            <p:nvPr/>
          </p:nvSpPr>
          <p:spPr>
            <a:xfrm>
              <a:off x="2416850" y="2487775"/>
              <a:ext cx="1608300" cy="67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Gradient of </a:t>
              </a:r>
              <a:r>
                <a:rPr b="1" lang="en"/>
                <a:t>loss</a:t>
              </a:r>
              <a:r>
                <a:rPr lang="en"/>
                <a:t> with respect to </a:t>
              </a:r>
              <a:r>
                <a:rPr b="1" i="1" lang="en"/>
                <a:t>w</a:t>
              </a:r>
              <a:endParaRPr b="1" i="1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ynamic_graph.gif" id="196" name="Google Shape;19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826460" y="719138"/>
            <a:ext cx="7344893" cy="411771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2"/>
          <p:cNvSpPr/>
          <p:nvPr/>
        </p:nvSpPr>
        <p:spPr>
          <a:xfrm>
            <a:off x="-2036715" y="981338"/>
            <a:ext cx="5164200" cy="336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p42"/>
          <p:cNvSpPr txBox="1"/>
          <p:nvPr>
            <p:ph type="title"/>
          </p:nvPr>
        </p:nvSpPr>
        <p:spPr>
          <a:xfrm>
            <a:off x="284537" y="210584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Better way? Computational graph + chain rule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3"/>
          <p:cNvSpPr txBox="1"/>
          <p:nvPr>
            <p:ph type="title"/>
          </p:nvPr>
        </p:nvSpPr>
        <p:spPr>
          <a:xfrm>
            <a:off x="431625" y="573732"/>
            <a:ext cx="8280900" cy="9645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 Rule</a:t>
            </a:r>
            <a:endParaRPr/>
          </a:p>
        </p:txBody>
      </p:sp>
      <p:pic>
        <p:nvPicPr>
          <p:cNvPr id="204" name="Google Shape;20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1875" y="1981763"/>
            <a:ext cx="2971550" cy="212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075" y="1395807"/>
            <a:ext cx="2736706" cy="3300468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43"/>
          <p:cNvSpPr txBox="1"/>
          <p:nvPr/>
        </p:nvSpPr>
        <p:spPr>
          <a:xfrm>
            <a:off x="4350275" y="3485250"/>
            <a:ext cx="49851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http://mathinsight.org/image/function_machines_composed</a:t>
            </a:r>
            <a:r>
              <a:rPr lang="en"/>
              <a:t> </a:t>
            </a:r>
            <a:endParaRPr/>
          </a:p>
        </p:txBody>
      </p:sp>
      <p:sp>
        <p:nvSpPr>
          <p:cNvPr id="207" name="Google Shape;207;p43"/>
          <p:cNvSpPr/>
          <p:nvPr/>
        </p:nvSpPr>
        <p:spPr>
          <a:xfrm>
            <a:off x="3988025" y="2003525"/>
            <a:ext cx="3285300" cy="664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4"/>
          <p:cNvSpPr txBox="1"/>
          <p:nvPr>
            <p:ph type="title"/>
          </p:nvPr>
        </p:nvSpPr>
        <p:spPr>
          <a:xfrm>
            <a:off x="3806488" y="-186225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Chain rule</a:t>
            </a:r>
            <a:endParaRPr/>
          </a:p>
        </p:txBody>
      </p:sp>
      <p:pic>
        <p:nvPicPr>
          <p:cNvPr descr="Image" id="213" name="Google Shape;21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04" y="359728"/>
            <a:ext cx="9068904" cy="474416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44"/>
          <p:cNvSpPr txBox="1"/>
          <p:nvPr/>
        </p:nvSpPr>
        <p:spPr>
          <a:xfrm>
            <a:off x="8122275" y="2204100"/>
            <a:ext cx="54693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… LOSS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219" name="Google Shape;21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04" y="361081"/>
            <a:ext cx="9068904" cy="474416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45"/>
          <p:cNvSpPr txBox="1"/>
          <p:nvPr>
            <p:ph type="title"/>
          </p:nvPr>
        </p:nvSpPr>
        <p:spPr>
          <a:xfrm>
            <a:off x="3806488" y="-186225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Chain rule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225" name="Google Shape;22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04" y="364491"/>
            <a:ext cx="9068904" cy="474416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6"/>
          <p:cNvSpPr txBox="1"/>
          <p:nvPr>
            <p:ph type="title"/>
          </p:nvPr>
        </p:nvSpPr>
        <p:spPr>
          <a:xfrm>
            <a:off x="3806488" y="-186225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Chain rule</a:t>
            </a:r>
            <a:endParaRPr/>
          </a:p>
        </p:txBody>
      </p:sp>
      <p:pic>
        <p:nvPicPr>
          <p:cNvPr descr="Image" id="227" name="Google Shape;227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9100" y="4237831"/>
            <a:ext cx="1993096" cy="656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232" name="Google Shape;23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04" y="364491"/>
            <a:ext cx="9068904" cy="474416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7"/>
          <p:cNvSpPr txBox="1"/>
          <p:nvPr>
            <p:ph type="title"/>
          </p:nvPr>
        </p:nvSpPr>
        <p:spPr>
          <a:xfrm>
            <a:off x="3806488" y="-186225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Chain rule</a:t>
            </a:r>
            <a:endParaRPr/>
          </a:p>
        </p:txBody>
      </p:sp>
      <p:pic>
        <p:nvPicPr>
          <p:cNvPr descr="Image" id="234" name="Google Shape;234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9100" y="4237831"/>
            <a:ext cx="1993096" cy="656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239" name="Google Shape;23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40" y="361749"/>
            <a:ext cx="9071224" cy="474537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8"/>
          <p:cNvSpPr txBox="1"/>
          <p:nvPr>
            <p:ph type="title"/>
          </p:nvPr>
        </p:nvSpPr>
        <p:spPr>
          <a:xfrm>
            <a:off x="3806488" y="-186225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Chain rule</a:t>
            </a:r>
            <a:endParaRPr/>
          </a:p>
        </p:txBody>
      </p:sp>
      <p:pic>
        <p:nvPicPr>
          <p:cNvPr descr="Image" id="241" name="Google Shape;241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6432" y="281681"/>
            <a:ext cx="2587782" cy="5413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42" name="Google Shape;242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9100" y="4237831"/>
            <a:ext cx="1993096" cy="656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247" name="Google Shape;24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04" y="359728"/>
            <a:ext cx="9068904" cy="4744164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9"/>
          <p:cNvSpPr txBox="1"/>
          <p:nvPr/>
        </p:nvSpPr>
        <p:spPr>
          <a:xfrm>
            <a:off x="4963007" y="2026799"/>
            <a:ext cx="6399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b="1" i="0" lang="en" sz="11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endParaRPr sz="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253" name="Google Shape;25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04" y="359728"/>
            <a:ext cx="9068904" cy="474416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50"/>
          <p:cNvSpPr txBox="1"/>
          <p:nvPr/>
        </p:nvSpPr>
        <p:spPr>
          <a:xfrm>
            <a:off x="4963007" y="2026799"/>
            <a:ext cx="6399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b="1" i="0" lang="en" sz="11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endParaRPr sz="500"/>
          </a:p>
        </p:txBody>
      </p:sp>
      <p:sp>
        <p:nvSpPr>
          <p:cNvPr id="255" name="Google Shape;255;p50"/>
          <p:cNvSpPr txBox="1"/>
          <p:nvPr/>
        </p:nvSpPr>
        <p:spPr>
          <a:xfrm>
            <a:off x="2934351" y="158100"/>
            <a:ext cx="36864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6D01"/>
              </a:buClr>
              <a:buFont typeface="Helvetica Neue"/>
              <a:buNone/>
            </a:pPr>
            <a:r>
              <a:rPr b="1" i="0" lang="en" sz="2300" u="none" cap="none" strike="noStrike">
                <a:solidFill>
                  <a:srgbClr val="016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 pass x= 2, y = 3</a:t>
            </a:r>
            <a:endParaRPr sz="500"/>
          </a:p>
        </p:txBody>
      </p:sp>
      <p:cxnSp>
        <p:nvCxnSpPr>
          <p:cNvPr id="256" name="Google Shape;256;p50"/>
          <p:cNvCxnSpPr/>
          <p:nvPr/>
        </p:nvCxnSpPr>
        <p:spPr>
          <a:xfrm>
            <a:off x="1836074" y="730250"/>
            <a:ext cx="6846600" cy="0"/>
          </a:xfrm>
          <a:prstGeom prst="straightConnector1">
            <a:avLst/>
          </a:prstGeom>
          <a:noFill/>
          <a:ln cap="flat" cmpd="sng" w="1270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pic>
        <p:nvPicPr>
          <p:cNvPr descr="Image" id="257" name="Google Shape;257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9730" y="37033"/>
            <a:ext cx="639442" cy="639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262" name="Google Shape;26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04" y="361081"/>
            <a:ext cx="9068904" cy="474416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51"/>
          <p:cNvSpPr txBox="1"/>
          <p:nvPr/>
        </p:nvSpPr>
        <p:spPr>
          <a:xfrm>
            <a:off x="1580503" y="502825"/>
            <a:ext cx="5160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6D01"/>
              </a:buClr>
              <a:buFont typeface="Helvetica Neue"/>
              <a:buNone/>
            </a:pPr>
            <a:r>
              <a:rPr b="1" i="0" lang="en" sz="2300" u="none" cap="none" strike="noStrike">
                <a:solidFill>
                  <a:srgbClr val="016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2</a:t>
            </a:r>
            <a:endParaRPr sz="500"/>
          </a:p>
        </p:txBody>
      </p:sp>
      <p:sp>
        <p:nvSpPr>
          <p:cNvPr id="264" name="Google Shape;264;p51"/>
          <p:cNvSpPr txBox="1"/>
          <p:nvPr/>
        </p:nvSpPr>
        <p:spPr>
          <a:xfrm>
            <a:off x="1350276" y="3524550"/>
            <a:ext cx="6393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6D01"/>
              </a:buClr>
              <a:buFont typeface="Helvetica Neue"/>
              <a:buNone/>
            </a:pPr>
            <a:r>
              <a:rPr b="1" i="0" lang="en" sz="2300" u="none" cap="none" strike="noStrike">
                <a:solidFill>
                  <a:srgbClr val="016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3</a:t>
            </a:r>
            <a:endParaRPr sz="500"/>
          </a:p>
        </p:txBody>
      </p:sp>
      <p:sp>
        <p:nvSpPr>
          <p:cNvPr id="265" name="Google Shape;265;p51"/>
          <p:cNvSpPr txBox="1"/>
          <p:nvPr/>
        </p:nvSpPr>
        <p:spPr>
          <a:xfrm>
            <a:off x="7805052" y="2130725"/>
            <a:ext cx="7206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6D01"/>
              </a:buClr>
              <a:buFont typeface="Helvetica Neue"/>
              <a:buNone/>
            </a:pPr>
            <a:r>
              <a:rPr b="1" i="0" lang="en" sz="2300" u="none" cap="none" strike="noStrike">
                <a:solidFill>
                  <a:srgbClr val="016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6</a:t>
            </a:r>
            <a:endParaRPr sz="500"/>
          </a:p>
        </p:txBody>
      </p:sp>
      <p:sp>
        <p:nvSpPr>
          <p:cNvPr id="266" name="Google Shape;266;p51"/>
          <p:cNvSpPr txBox="1"/>
          <p:nvPr/>
        </p:nvSpPr>
        <p:spPr>
          <a:xfrm>
            <a:off x="4963007" y="2026799"/>
            <a:ext cx="6399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b="1" i="0" lang="en" sz="11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endParaRPr sz="500"/>
          </a:p>
        </p:txBody>
      </p:sp>
      <p:pic>
        <p:nvPicPr>
          <p:cNvPr descr="Image" id="267" name="Google Shape;26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9100" y="4237831"/>
            <a:ext cx="1993096" cy="656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272" name="Google Shape;27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04" y="361081"/>
            <a:ext cx="9068904" cy="4744164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2"/>
          <p:cNvSpPr txBox="1"/>
          <p:nvPr/>
        </p:nvSpPr>
        <p:spPr>
          <a:xfrm>
            <a:off x="2713526" y="-4050"/>
            <a:ext cx="35478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220C"/>
              </a:buClr>
              <a:buFont typeface="Helvetica Neue"/>
              <a:buNone/>
            </a:pPr>
            <a:r>
              <a:rPr b="1" i="0" lang="en" sz="2300" u="none" cap="none" strike="noStrike">
                <a:solidFill>
                  <a:srgbClr val="EB220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Backward propagation</a:t>
            </a:r>
            <a:endParaRPr sz="500"/>
          </a:p>
        </p:txBody>
      </p:sp>
      <p:pic>
        <p:nvPicPr>
          <p:cNvPr descr="Image" id="274" name="Google Shape;274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6900" y="2811875"/>
            <a:ext cx="2647400" cy="201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52"/>
          <p:cNvSpPr txBox="1"/>
          <p:nvPr/>
        </p:nvSpPr>
        <p:spPr>
          <a:xfrm>
            <a:off x="1580503" y="502825"/>
            <a:ext cx="5160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6D01"/>
              </a:buClr>
              <a:buFont typeface="Helvetica Neue"/>
              <a:buNone/>
            </a:pPr>
            <a:r>
              <a:rPr b="1" i="0" lang="en" sz="2300" u="none" cap="none" strike="noStrike">
                <a:solidFill>
                  <a:srgbClr val="016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2</a:t>
            </a:r>
            <a:endParaRPr sz="500"/>
          </a:p>
        </p:txBody>
      </p:sp>
      <p:sp>
        <p:nvSpPr>
          <p:cNvPr id="276" name="Google Shape;276;p52"/>
          <p:cNvSpPr txBox="1"/>
          <p:nvPr/>
        </p:nvSpPr>
        <p:spPr>
          <a:xfrm>
            <a:off x="1350276" y="3524550"/>
            <a:ext cx="6393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6D01"/>
              </a:buClr>
              <a:buFont typeface="Helvetica Neue"/>
              <a:buNone/>
            </a:pPr>
            <a:r>
              <a:rPr b="1" i="0" lang="en" sz="2300" u="none" cap="none" strike="noStrike">
                <a:solidFill>
                  <a:srgbClr val="016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3</a:t>
            </a:r>
            <a:endParaRPr sz="500"/>
          </a:p>
        </p:txBody>
      </p:sp>
      <p:sp>
        <p:nvSpPr>
          <p:cNvPr id="277" name="Google Shape;277;p52"/>
          <p:cNvSpPr txBox="1"/>
          <p:nvPr/>
        </p:nvSpPr>
        <p:spPr>
          <a:xfrm>
            <a:off x="7805052" y="2130725"/>
            <a:ext cx="7206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6D01"/>
              </a:buClr>
              <a:buFont typeface="Helvetica Neue"/>
              <a:buNone/>
            </a:pPr>
            <a:r>
              <a:rPr b="1" i="0" lang="en" sz="2300" u="none" cap="none" strike="noStrike">
                <a:solidFill>
                  <a:srgbClr val="016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6</a:t>
            </a:r>
            <a:endParaRPr sz="500"/>
          </a:p>
        </p:txBody>
      </p:sp>
      <p:sp>
        <p:nvSpPr>
          <p:cNvPr id="278" name="Google Shape;278;p52"/>
          <p:cNvSpPr txBox="1"/>
          <p:nvPr/>
        </p:nvSpPr>
        <p:spPr>
          <a:xfrm>
            <a:off x="4963007" y="2026799"/>
            <a:ext cx="6399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b="1" i="0" lang="en" sz="11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endParaRPr sz="500"/>
          </a:p>
        </p:txBody>
      </p:sp>
      <p:pic>
        <p:nvPicPr>
          <p:cNvPr descr="Image" id="279" name="Google Shape;279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96575" y="9699"/>
            <a:ext cx="639442" cy="6394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80" name="Google Shape;280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69037" y="-4039"/>
            <a:ext cx="467560" cy="51420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52"/>
          <p:cNvSpPr txBox="1"/>
          <p:nvPr/>
        </p:nvSpPr>
        <p:spPr>
          <a:xfrm>
            <a:off x="6532448" y="54550"/>
            <a:ext cx="1993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5 is given.</a:t>
            </a:r>
            <a:endParaRPr sz="500"/>
          </a:p>
        </p:txBody>
      </p:sp>
      <p:pic>
        <p:nvPicPr>
          <p:cNvPr descr="Image" id="282" name="Google Shape;282;p5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9100" y="4237831"/>
            <a:ext cx="1993096" cy="656923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52"/>
          <p:cNvSpPr txBox="1"/>
          <p:nvPr/>
        </p:nvSpPr>
        <p:spPr>
          <a:xfrm>
            <a:off x="7949555" y="3112675"/>
            <a:ext cx="6393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5</a:t>
            </a:r>
            <a:endParaRPr sz="500"/>
          </a:p>
        </p:txBody>
      </p:sp>
      <p:cxnSp>
        <p:nvCxnSpPr>
          <p:cNvPr id="284" name="Google Shape;284;p52"/>
          <p:cNvCxnSpPr/>
          <p:nvPr/>
        </p:nvCxnSpPr>
        <p:spPr>
          <a:xfrm>
            <a:off x="2711434" y="701675"/>
            <a:ext cx="5971200" cy="0"/>
          </a:xfrm>
          <a:prstGeom prst="straightConnector1">
            <a:avLst/>
          </a:prstGeom>
          <a:noFill/>
          <a:ln cap="flat" cmpd="sng" w="127000">
            <a:solidFill>
              <a:srgbClr val="EB220C"/>
            </a:solidFill>
            <a:prstDash val="solid"/>
            <a:miter lim="400000"/>
            <a:headEnd len="med" w="med" type="triangl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289" name="Google Shape;28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40" y="361749"/>
            <a:ext cx="9071224" cy="4745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90" name="Google Shape;290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6432" y="281681"/>
            <a:ext cx="2587782" cy="5413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291" name="Google Shape;291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9100" y="4237831"/>
            <a:ext cx="1993096" cy="6569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2" name="Google Shape;292;p53"/>
          <p:cNvGrpSpPr/>
          <p:nvPr/>
        </p:nvGrpSpPr>
        <p:grpSpPr>
          <a:xfrm>
            <a:off x="1426476" y="502825"/>
            <a:ext cx="7256233" cy="3419412"/>
            <a:chOff x="11" y="1111804"/>
            <a:chExt cx="19349955" cy="9118433"/>
          </a:xfrm>
        </p:grpSpPr>
        <p:cxnSp>
          <p:nvCxnSpPr>
            <p:cNvPr id="293" name="Google Shape;293;p53"/>
            <p:cNvCxnSpPr/>
            <p:nvPr/>
          </p:nvCxnSpPr>
          <p:spPr>
            <a:xfrm>
              <a:off x="3426566" y="1642070"/>
              <a:ext cx="15923400" cy="0"/>
            </a:xfrm>
            <a:prstGeom prst="straightConnector1">
              <a:avLst/>
            </a:prstGeom>
            <a:noFill/>
            <a:ln cap="flat" cmpd="sng" w="127000">
              <a:solidFill>
                <a:srgbClr val="EB220C"/>
              </a:solidFill>
              <a:prstDash val="solid"/>
              <a:miter lim="400000"/>
              <a:headEnd len="med" w="med" type="triangle"/>
              <a:tailEnd len="sm" w="sm" type="none"/>
            </a:ln>
          </p:spPr>
        </p:cxnSp>
        <p:sp>
          <p:nvSpPr>
            <p:cNvPr id="294" name="Google Shape;294;p53"/>
            <p:cNvSpPr txBox="1"/>
            <p:nvPr/>
          </p:nvSpPr>
          <p:spPr>
            <a:xfrm>
              <a:off x="410752" y="1111804"/>
              <a:ext cx="1494000" cy="10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775" lIns="26775" spcFirstLastPara="1" rIns="26775" wrap="square" tIns="26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6D01"/>
                </a:buClr>
                <a:buFont typeface="Helvetica Neue"/>
                <a:buNone/>
              </a:pPr>
              <a:r>
                <a:rPr b="1" i="0" lang="en" sz="2300" u="none" cap="none" strike="noStrike">
                  <a:solidFill>
                    <a:srgbClr val="016D0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= 2</a:t>
              </a:r>
              <a:endParaRPr sz="500"/>
            </a:p>
          </p:txBody>
        </p:sp>
        <p:sp>
          <p:nvSpPr>
            <p:cNvPr id="295" name="Google Shape;295;p53"/>
            <p:cNvSpPr txBox="1"/>
            <p:nvPr/>
          </p:nvSpPr>
          <p:spPr>
            <a:xfrm>
              <a:off x="11" y="9169737"/>
              <a:ext cx="1494000" cy="10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775" lIns="26775" spcFirstLastPara="1" rIns="26775" wrap="square" tIns="26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6D01"/>
                </a:buClr>
                <a:buFont typeface="Helvetica Neue"/>
                <a:buNone/>
              </a:pPr>
              <a:r>
                <a:rPr b="1" i="0" lang="en" sz="2300" u="none" cap="none" strike="noStrike">
                  <a:solidFill>
                    <a:srgbClr val="016D0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= 3</a:t>
              </a:r>
              <a:endParaRPr sz="500"/>
            </a:p>
          </p:txBody>
        </p:sp>
        <p:sp>
          <p:nvSpPr>
            <p:cNvPr id="296" name="Google Shape;296;p53"/>
            <p:cNvSpPr txBox="1"/>
            <p:nvPr/>
          </p:nvSpPr>
          <p:spPr>
            <a:xfrm>
              <a:off x="17009545" y="5452870"/>
              <a:ext cx="1706100" cy="10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775" lIns="26775" spcFirstLastPara="1" rIns="26775" wrap="square" tIns="26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6D01"/>
                </a:buClr>
                <a:buFont typeface="Helvetica Neue"/>
                <a:buNone/>
              </a:pPr>
              <a:r>
                <a:rPr b="1" i="0" lang="en" sz="2300" u="none" cap="none" strike="noStrike">
                  <a:solidFill>
                    <a:srgbClr val="016D0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= 6</a:t>
              </a:r>
              <a:endParaRPr sz="500"/>
            </a:p>
          </p:txBody>
        </p:sp>
        <p:sp>
          <p:nvSpPr>
            <p:cNvPr id="297" name="Google Shape;297;p53"/>
            <p:cNvSpPr txBox="1"/>
            <p:nvPr/>
          </p:nvSpPr>
          <p:spPr>
            <a:xfrm>
              <a:off x="9430759" y="5192667"/>
              <a:ext cx="1706100" cy="46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775" lIns="26775" spcFirstLastPara="1" rIns="26775" wrap="square" tIns="26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"/>
                <a:buNone/>
              </a:pPr>
              <a:r>
                <a:rPr b="1" i="0" lang="en" sz="113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*</a:t>
              </a:r>
              <a:endParaRPr sz="500"/>
            </a:p>
          </p:txBody>
        </p:sp>
        <p:sp>
          <p:nvSpPr>
            <p:cNvPr id="298" name="Google Shape;298;p53"/>
            <p:cNvSpPr txBox="1"/>
            <p:nvPr/>
          </p:nvSpPr>
          <p:spPr>
            <a:xfrm>
              <a:off x="6475781" y="4526091"/>
              <a:ext cx="1149000" cy="9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775" lIns="26775" spcFirstLastPara="1" rIns="26775" wrap="square" tIns="26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"/>
                <a:buNone/>
              </a:pPr>
              <a:r>
                <a:rPr b="1" i="0" lang="en" sz="21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= y</a:t>
              </a:r>
              <a:endParaRPr sz="500"/>
            </a:p>
          </p:txBody>
        </p:sp>
        <p:sp>
          <p:nvSpPr>
            <p:cNvPr id="299" name="Google Shape;299;p53"/>
            <p:cNvSpPr txBox="1"/>
            <p:nvPr/>
          </p:nvSpPr>
          <p:spPr>
            <a:xfrm>
              <a:off x="6249246" y="8102397"/>
              <a:ext cx="1161900" cy="9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775" lIns="26775" spcFirstLastPara="1" rIns="26775" wrap="square" tIns="26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"/>
                <a:buNone/>
              </a:pPr>
              <a:r>
                <a:rPr b="1" i="0" lang="en" sz="21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= x</a:t>
              </a:r>
              <a:endParaRPr sz="500"/>
            </a:p>
          </p:txBody>
        </p:sp>
        <p:sp>
          <p:nvSpPr>
            <p:cNvPr id="300" name="Google Shape;300;p53"/>
            <p:cNvSpPr txBox="1"/>
            <p:nvPr/>
          </p:nvSpPr>
          <p:spPr>
            <a:xfrm>
              <a:off x="17394891" y="8071404"/>
              <a:ext cx="1706100" cy="10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775" lIns="26775" spcFirstLastPara="1" rIns="26775" wrap="square" tIns="26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"/>
                <a:buNone/>
              </a:pPr>
              <a:r>
                <a:rPr b="1" i="0" lang="en" sz="23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= 5</a:t>
              </a:r>
              <a:endParaRPr sz="500"/>
            </a:p>
          </p:txBody>
        </p:sp>
      </p:grpSp>
      <p:sp>
        <p:nvSpPr>
          <p:cNvPr id="301" name="Google Shape;301;p53"/>
          <p:cNvSpPr txBox="1"/>
          <p:nvPr/>
        </p:nvSpPr>
        <p:spPr>
          <a:xfrm>
            <a:off x="2713526" y="-4050"/>
            <a:ext cx="35478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220C"/>
              </a:buClr>
              <a:buFont typeface="Helvetica Neue"/>
              <a:buNone/>
            </a:pPr>
            <a:r>
              <a:rPr b="1" i="0" lang="en" sz="2300" u="none" cap="none" strike="noStrike">
                <a:solidFill>
                  <a:srgbClr val="EB220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Backward propagation</a:t>
            </a:r>
            <a:endParaRPr sz="500"/>
          </a:p>
        </p:txBody>
      </p:sp>
      <p:pic>
        <p:nvPicPr>
          <p:cNvPr descr="Image" id="302" name="Google Shape;302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96575" y="9699"/>
            <a:ext cx="639442" cy="6394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03" name="Google Shape;303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9037" y="-4039"/>
            <a:ext cx="467560" cy="51420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53"/>
          <p:cNvSpPr txBox="1"/>
          <p:nvPr/>
        </p:nvSpPr>
        <p:spPr>
          <a:xfrm>
            <a:off x="6532448" y="54550"/>
            <a:ext cx="1993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5 is given.</a:t>
            </a:r>
            <a:endParaRPr sz="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309" name="Google Shape;30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40" y="361749"/>
            <a:ext cx="9071224" cy="4745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10" name="Google Shape;310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6432" y="281681"/>
            <a:ext cx="2587782" cy="5413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11" name="Google Shape;311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69100" y="4237831"/>
            <a:ext cx="1993096" cy="6569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54"/>
          <p:cNvGrpSpPr/>
          <p:nvPr/>
        </p:nvGrpSpPr>
        <p:grpSpPr>
          <a:xfrm>
            <a:off x="1426476" y="502825"/>
            <a:ext cx="7256233" cy="3419412"/>
            <a:chOff x="11" y="1111804"/>
            <a:chExt cx="19349955" cy="9118433"/>
          </a:xfrm>
        </p:grpSpPr>
        <p:cxnSp>
          <p:nvCxnSpPr>
            <p:cNvPr id="313" name="Google Shape;313;p54"/>
            <p:cNvCxnSpPr/>
            <p:nvPr/>
          </p:nvCxnSpPr>
          <p:spPr>
            <a:xfrm>
              <a:off x="3426566" y="1642070"/>
              <a:ext cx="15923400" cy="0"/>
            </a:xfrm>
            <a:prstGeom prst="straightConnector1">
              <a:avLst/>
            </a:prstGeom>
            <a:noFill/>
            <a:ln cap="flat" cmpd="sng" w="127000">
              <a:solidFill>
                <a:srgbClr val="EB220C"/>
              </a:solidFill>
              <a:prstDash val="solid"/>
              <a:miter lim="400000"/>
              <a:headEnd len="med" w="med" type="triangle"/>
              <a:tailEnd len="sm" w="sm" type="none"/>
            </a:ln>
          </p:spPr>
        </p:cxnSp>
        <p:sp>
          <p:nvSpPr>
            <p:cNvPr id="314" name="Google Shape;314;p54"/>
            <p:cNvSpPr txBox="1"/>
            <p:nvPr/>
          </p:nvSpPr>
          <p:spPr>
            <a:xfrm>
              <a:off x="410752" y="1111804"/>
              <a:ext cx="1494000" cy="10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775" lIns="26775" spcFirstLastPara="1" rIns="26775" wrap="square" tIns="26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6D01"/>
                </a:buClr>
                <a:buFont typeface="Helvetica Neue"/>
                <a:buNone/>
              </a:pPr>
              <a:r>
                <a:rPr b="1" i="0" lang="en" sz="2300" u="none" cap="none" strike="noStrike">
                  <a:solidFill>
                    <a:srgbClr val="016D0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= 2</a:t>
              </a:r>
              <a:endParaRPr sz="500"/>
            </a:p>
          </p:txBody>
        </p:sp>
        <p:sp>
          <p:nvSpPr>
            <p:cNvPr id="315" name="Google Shape;315;p54"/>
            <p:cNvSpPr txBox="1"/>
            <p:nvPr/>
          </p:nvSpPr>
          <p:spPr>
            <a:xfrm>
              <a:off x="11" y="9169737"/>
              <a:ext cx="1494000" cy="10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775" lIns="26775" spcFirstLastPara="1" rIns="26775" wrap="square" tIns="26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6D01"/>
                </a:buClr>
                <a:buFont typeface="Helvetica Neue"/>
                <a:buNone/>
              </a:pPr>
              <a:r>
                <a:rPr b="1" i="0" lang="en" sz="2300" u="none" cap="none" strike="noStrike">
                  <a:solidFill>
                    <a:srgbClr val="016D0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= 3</a:t>
              </a:r>
              <a:endParaRPr sz="500"/>
            </a:p>
          </p:txBody>
        </p:sp>
        <p:sp>
          <p:nvSpPr>
            <p:cNvPr id="316" name="Google Shape;316;p54"/>
            <p:cNvSpPr txBox="1"/>
            <p:nvPr/>
          </p:nvSpPr>
          <p:spPr>
            <a:xfrm>
              <a:off x="17009545" y="5452870"/>
              <a:ext cx="1706100" cy="10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775" lIns="26775" spcFirstLastPara="1" rIns="26775" wrap="square" tIns="26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16D01"/>
                </a:buClr>
                <a:buFont typeface="Helvetica Neue"/>
                <a:buNone/>
              </a:pPr>
              <a:r>
                <a:rPr b="1" i="0" lang="en" sz="2300" u="none" cap="none" strike="noStrike">
                  <a:solidFill>
                    <a:srgbClr val="016D0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= 6</a:t>
              </a:r>
              <a:endParaRPr sz="500"/>
            </a:p>
          </p:txBody>
        </p:sp>
        <p:sp>
          <p:nvSpPr>
            <p:cNvPr id="317" name="Google Shape;317;p54"/>
            <p:cNvSpPr txBox="1"/>
            <p:nvPr/>
          </p:nvSpPr>
          <p:spPr>
            <a:xfrm>
              <a:off x="9430759" y="5192667"/>
              <a:ext cx="1706100" cy="46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775" lIns="26775" spcFirstLastPara="1" rIns="26775" wrap="square" tIns="26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"/>
                <a:buNone/>
              </a:pPr>
              <a:r>
                <a:rPr b="1" i="0" lang="en" sz="113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*</a:t>
              </a:r>
              <a:endParaRPr sz="500"/>
            </a:p>
          </p:txBody>
        </p:sp>
        <p:sp>
          <p:nvSpPr>
            <p:cNvPr id="318" name="Google Shape;318;p54"/>
            <p:cNvSpPr txBox="1"/>
            <p:nvPr/>
          </p:nvSpPr>
          <p:spPr>
            <a:xfrm>
              <a:off x="6475781" y="4526091"/>
              <a:ext cx="1149000" cy="9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775" lIns="26775" spcFirstLastPara="1" rIns="26775" wrap="square" tIns="26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"/>
                <a:buNone/>
              </a:pPr>
              <a:r>
                <a:rPr b="1" i="0" lang="en" sz="21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= y</a:t>
              </a:r>
              <a:endParaRPr sz="500"/>
            </a:p>
          </p:txBody>
        </p:sp>
        <p:sp>
          <p:nvSpPr>
            <p:cNvPr id="319" name="Google Shape;319;p54"/>
            <p:cNvSpPr txBox="1"/>
            <p:nvPr/>
          </p:nvSpPr>
          <p:spPr>
            <a:xfrm>
              <a:off x="6249246" y="8102397"/>
              <a:ext cx="1161900" cy="9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775" lIns="26775" spcFirstLastPara="1" rIns="26775" wrap="square" tIns="26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"/>
                <a:buNone/>
              </a:pPr>
              <a:r>
                <a:rPr b="1" i="0" lang="en" sz="21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= x</a:t>
              </a:r>
              <a:endParaRPr sz="500"/>
            </a:p>
          </p:txBody>
        </p:sp>
        <p:sp>
          <p:nvSpPr>
            <p:cNvPr id="320" name="Google Shape;320;p54"/>
            <p:cNvSpPr txBox="1"/>
            <p:nvPr/>
          </p:nvSpPr>
          <p:spPr>
            <a:xfrm>
              <a:off x="17394891" y="8071404"/>
              <a:ext cx="1706100" cy="106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775" lIns="26775" spcFirstLastPara="1" rIns="26775" wrap="square" tIns="26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Helvetica Neue"/>
                <a:buNone/>
              </a:pPr>
              <a:r>
                <a:rPr b="1" i="0" lang="en" sz="2300" u="none" cap="none" strike="noStrike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= 5</a:t>
              </a:r>
              <a:endParaRPr sz="500"/>
            </a:p>
          </p:txBody>
        </p:sp>
      </p:grpSp>
      <p:sp>
        <p:nvSpPr>
          <p:cNvPr id="321" name="Google Shape;321;p54"/>
          <p:cNvSpPr txBox="1"/>
          <p:nvPr/>
        </p:nvSpPr>
        <p:spPr>
          <a:xfrm rot="-1023456">
            <a:off x="1975699" y="4581174"/>
            <a:ext cx="1764207" cy="39781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5*x = </a:t>
            </a:r>
            <a:r>
              <a:rPr b="1" i="0" lang="en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500"/>
          </a:p>
        </p:txBody>
      </p:sp>
      <p:sp>
        <p:nvSpPr>
          <p:cNvPr id="322" name="Google Shape;322;p54"/>
          <p:cNvSpPr txBox="1"/>
          <p:nvPr/>
        </p:nvSpPr>
        <p:spPr>
          <a:xfrm rot="1622616">
            <a:off x="983774" y="2516320"/>
            <a:ext cx="1767003" cy="397811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5*y = </a:t>
            </a:r>
            <a:r>
              <a:rPr b="1" i="0" lang="en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</a:t>
            </a:r>
            <a:endParaRPr sz="500"/>
          </a:p>
        </p:txBody>
      </p:sp>
      <p:sp>
        <p:nvSpPr>
          <p:cNvPr id="323" name="Google Shape;323;p54"/>
          <p:cNvSpPr txBox="1"/>
          <p:nvPr/>
        </p:nvSpPr>
        <p:spPr>
          <a:xfrm>
            <a:off x="2713526" y="-4050"/>
            <a:ext cx="35478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220C"/>
              </a:buClr>
              <a:buFont typeface="Helvetica Neue"/>
              <a:buNone/>
            </a:pPr>
            <a:r>
              <a:rPr b="1" i="0" lang="en" sz="2300" u="none" cap="none" strike="noStrike">
                <a:solidFill>
                  <a:srgbClr val="EB220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Backward propagation</a:t>
            </a:r>
            <a:endParaRPr sz="500"/>
          </a:p>
        </p:txBody>
      </p:sp>
      <p:pic>
        <p:nvPicPr>
          <p:cNvPr descr="Image" id="324" name="Google Shape;324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96575" y="9699"/>
            <a:ext cx="639442" cy="6394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25" name="Google Shape;325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9037" y="-4039"/>
            <a:ext cx="467560" cy="51420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54"/>
          <p:cNvSpPr txBox="1"/>
          <p:nvPr/>
        </p:nvSpPr>
        <p:spPr>
          <a:xfrm>
            <a:off x="6532448" y="54550"/>
            <a:ext cx="1993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5 is given.</a:t>
            </a:r>
            <a:endParaRPr sz="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5"/>
          <p:cNvSpPr txBox="1"/>
          <p:nvPr>
            <p:ph type="title"/>
          </p:nvPr>
        </p:nvSpPr>
        <p:spPr>
          <a:xfrm>
            <a:off x="284537" y="210584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Computational graph</a:t>
            </a:r>
            <a:endParaRPr/>
          </a:p>
        </p:txBody>
      </p:sp>
      <p:pic>
        <p:nvPicPr>
          <p:cNvPr descr="Image" id="332" name="Google Shape;33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715" y="1363634"/>
            <a:ext cx="1453543" cy="3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33" name="Google Shape;333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5102" y="1363634"/>
            <a:ext cx="3941610" cy="3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55"/>
          <p:cNvSpPr/>
          <p:nvPr/>
        </p:nvSpPr>
        <p:spPr>
          <a:xfrm>
            <a:off x="3802722" y="2480713"/>
            <a:ext cx="4850100" cy="140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5" name="Google Shape;335;p55"/>
          <p:cNvSpPr/>
          <p:nvPr/>
        </p:nvSpPr>
        <p:spPr>
          <a:xfrm>
            <a:off x="4018167" y="1171856"/>
            <a:ext cx="4850100" cy="140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6" name="Google Shape;336;p55"/>
          <p:cNvSpPr/>
          <p:nvPr/>
        </p:nvSpPr>
        <p:spPr>
          <a:xfrm>
            <a:off x="2619423" y="3107116"/>
            <a:ext cx="4850100" cy="140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6"/>
          <p:cNvSpPr txBox="1"/>
          <p:nvPr>
            <p:ph type="title"/>
          </p:nvPr>
        </p:nvSpPr>
        <p:spPr>
          <a:xfrm>
            <a:off x="284537" y="210584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Computational graph</a:t>
            </a:r>
            <a:endParaRPr/>
          </a:p>
        </p:txBody>
      </p:sp>
      <p:pic>
        <p:nvPicPr>
          <p:cNvPr descr="Image" id="342" name="Google Shape;34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521" y="1881188"/>
            <a:ext cx="8262328" cy="1944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43" name="Google Shape;343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5715" y="1363634"/>
            <a:ext cx="1453543" cy="3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44" name="Google Shape;344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5102" y="1363634"/>
            <a:ext cx="3941610" cy="3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6"/>
          <p:cNvSpPr/>
          <p:nvPr/>
        </p:nvSpPr>
        <p:spPr>
          <a:xfrm>
            <a:off x="3802722" y="2480713"/>
            <a:ext cx="4850100" cy="140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6" name="Google Shape;346;p56"/>
          <p:cNvSpPr/>
          <p:nvPr/>
        </p:nvSpPr>
        <p:spPr>
          <a:xfrm>
            <a:off x="4018167" y="1171856"/>
            <a:ext cx="4850100" cy="140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7" name="Google Shape;347;p56"/>
          <p:cNvSpPr/>
          <p:nvPr/>
        </p:nvSpPr>
        <p:spPr>
          <a:xfrm>
            <a:off x="2619423" y="3107116"/>
            <a:ext cx="4850100" cy="140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7"/>
          <p:cNvSpPr txBox="1"/>
          <p:nvPr>
            <p:ph type="title"/>
          </p:nvPr>
        </p:nvSpPr>
        <p:spPr>
          <a:xfrm>
            <a:off x="284537" y="210584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Computational graph</a:t>
            </a:r>
            <a:endParaRPr/>
          </a:p>
        </p:txBody>
      </p:sp>
      <p:pic>
        <p:nvPicPr>
          <p:cNvPr descr="Image" id="353" name="Google Shape;35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521" y="1881188"/>
            <a:ext cx="8262328" cy="1944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54" name="Google Shape;354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5715" y="1363634"/>
            <a:ext cx="1453543" cy="3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55" name="Google Shape;355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5102" y="1363634"/>
            <a:ext cx="3941610" cy="347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57"/>
          <p:cNvSpPr/>
          <p:nvPr/>
        </p:nvSpPr>
        <p:spPr>
          <a:xfrm>
            <a:off x="3802722" y="2480713"/>
            <a:ext cx="4850100" cy="140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7" name="Google Shape;357;p57"/>
          <p:cNvSpPr/>
          <p:nvPr/>
        </p:nvSpPr>
        <p:spPr>
          <a:xfrm>
            <a:off x="2619423" y="3107116"/>
            <a:ext cx="4850100" cy="140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8"/>
          <p:cNvSpPr txBox="1"/>
          <p:nvPr>
            <p:ph type="title"/>
          </p:nvPr>
        </p:nvSpPr>
        <p:spPr>
          <a:xfrm>
            <a:off x="284537" y="210584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Computational graph</a:t>
            </a:r>
            <a:endParaRPr/>
          </a:p>
        </p:txBody>
      </p:sp>
      <p:pic>
        <p:nvPicPr>
          <p:cNvPr descr="Image" id="363" name="Google Shape;36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521" y="1881188"/>
            <a:ext cx="8262328" cy="1944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64" name="Google Shape;364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55715" y="1363634"/>
            <a:ext cx="1453543" cy="3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65" name="Google Shape;365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5102" y="1363634"/>
            <a:ext cx="3941610" cy="34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370" name="Google Shape;37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521" y="1881188"/>
            <a:ext cx="8262328" cy="194416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9"/>
          <p:cNvSpPr txBox="1"/>
          <p:nvPr/>
        </p:nvSpPr>
        <p:spPr>
          <a:xfrm>
            <a:off x="2176729" y="442690"/>
            <a:ext cx="58677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6D01"/>
              </a:buClr>
              <a:buFont typeface="Helvetica Neue"/>
              <a:buNone/>
            </a:pPr>
            <a:r>
              <a:rPr b="1" i="0" lang="en" sz="2700" u="none" cap="none" strike="noStrike">
                <a:solidFill>
                  <a:srgbClr val="016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 pass x=1, y = 2 where w=1</a:t>
            </a:r>
            <a:endParaRPr sz="500"/>
          </a:p>
        </p:txBody>
      </p:sp>
      <p:cxnSp>
        <p:nvCxnSpPr>
          <p:cNvPr id="372" name="Google Shape;372;p59"/>
          <p:cNvCxnSpPr/>
          <p:nvPr/>
        </p:nvCxnSpPr>
        <p:spPr>
          <a:xfrm>
            <a:off x="1366348" y="1125864"/>
            <a:ext cx="6846600" cy="0"/>
          </a:xfrm>
          <a:prstGeom prst="straightConnector1">
            <a:avLst/>
          </a:prstGeom>
          <a:noFill/>
          <a:ln cap="flat" cmpd="sng" w="127000">
            <a:solidFill>
              <a:srgbClr val="016D01"/>
            </a:solidFill>
            <a:prstDash val="solid"/>
            <a:miter lim="400000"/>
            <a:headEnd len="sm" w="sm" type="none"/>
            <a:tailEnd len="med" w="med" type="triangle"/>
          </a:ln>
        </p:spPr>
      </p:cxnSp>
      <p:pic>
        <p:nvPicPr>
          <p:cNvPr descr="Image" id="373" name="Google Shape;37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0004" y="356447"/>
            <a:ext cx="639442" cy="639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378" name="Google Shape;37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521" y="1881188"/>
            <a:ext cx="8262328" cy="1944168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60"/>
          <p:cNvSpPr txBox="1"/>
          <p:nvPr/>
        </p:nvSpPr>
        <p:spPr>
          <a:xfrm>
            <a:off x="883242" y="2288756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sp>
        <p:nvSpPr>
          <p:cNvPr id="380" name="Google Shape;380;p60"/>
          <p:cNvSpPr txBox="1"/>
          <p:nvPr/>
        </p:nvSpPr>
        <p:spPr>
          <a:xfrm>
            <a:off x="955381" y="3325143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sp>
        <p:nvSpPr>
          <p:cNvPr id="381" name="Google Shape;381;p60"/>
          <p:cNvSpPr txBox="1"/>
          <p:nvPr/>
        </p:nvSpPr>
        <p:spPr>
          <a:xfrm>
            <a:off x="3274706" y="2531094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sp>
        <p:nvSpPr>
          <p:cNvPr id="382" name="Google Shape;382;p60"/>
          <p:cNvSpPr txBox="1"/>
          <p:nvPr/>
        </p:nvSpPr>
        <p:spPr>
          <a:xfrm>
            <a:off x="3274706" y="3325143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=2</a:t>
            </a:r>
            <a:endParaRPr sz="500"/>
          </a:p>
        </p:txBody>
      </p:sp>
      <p:sp>
        <p:nvSpPr>
          <p:cNvPr id="383" name="Google Shape;383;p60"/>
          <p:cNvSpPr txBox="1"/>
          <p:nvPr/>
        </p:nvSpPr>
        <p:spPr>
          <a:xfrm>
            <a:off x="5666176" y="2531100"/>
            <a:ext cx="542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=-1</a:t>
            </a:r>
            <a:endParaRPr sz="500"/>
          </a:p>
        </p:txBody>
      </p:sp>
      <p:sp>
        <p:nvSpPr>
          <p:cNvPr id="384" name="Google Shape;384;p60"/>
          <p:cNvSpPr txBox="1"/>
          <p:nvPr/>
        </p:nvSpPr>
        <p:spPr>
          <a:xfrm>
            <a:off x="8154551" y="2531094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pic>
        <p:nvPicPr>
          <p:cNvPr descr="Image" id="385" name="Google Shape;385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6384" y="3149111"/>
            <a:ext cx="633718" cy="366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86" name="Google Shape;386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8233" y="3232179"/>
            <a:ext cx="813512" cy="395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87" name="Google Shape;387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48016" y="3246467"/>
            <a:ext cx="666639" cy="366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388" name="Google Shape;388;p6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854" y="4006846"/>
            <a:ext cx="814388" cy="5015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p60"/>
          <p:cNvGrpSpPr/>
          <p:nvPr/>
        </p:nvGrpSpPr>
        <p:grpSpPr>
          <a:xfrm>
            <a:off x="1240828" y="348225"/>
            <a:ext cx="6662259" cy="646426"/>
            <a:chOff x="1240828" y="348225"/>
            <a:chExt cx="6662259" cy="646426"/>
          </a:xfrm>
        </p:grpSpPr>
        <p:sp>
          <p:nvSpPr>
            <p:cNvPr id="390" name="Google Shape;390;p60"/>
            <p:cNvSpPr txBox="1"/>
            <p:nvPr/>
          </p:nvSpPr>
          <p:spPr>
            <a:xfrm>
              <a:off x="2311500" y="348225"/>
              <a:ext cx="5418300" cy="5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775" lIns="26775" spcFirstLastPara="1" rIns="26775" wrap="square" tIns="26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B220C"/>
                </a:buClr>
                <a:buFont typeface="Helvetica Neue"/>
                <a:buNone/>
              </a:pPr>
              <a:r>
                <a:rPr b="1" i="0" lang="en" sz="3100" u="none" cap="none" strike="noStrike">
                  <a:solidFill>
                    <a:srgbClr val="EB220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Backward propagation</a:t>
              </a:r>
              <a:endParaRPr sz="500"/>
            </a:p>
          </p:txBody>
        </p:sp>
        <p:cxnSp>
          <p:nvCxnSpPr>
            <p:cNvPr id="391" name="Google Shape;391;p60"/>
            <p:cNvCxnSpPr/>
            <p:nvPr/>
          </p:nvCxnSpPr>
          <p:spPr>
            <a:xfrm>
              <a:off x="1931887" y="970984"/>
              <a:ext cx="5971200" cy="0"/>
            </a:xfrm>
            <a:prstGeom prst="straightConnector1">
              <a:avLst/>
            </a:prstGeom>
            <a:noFill/>
            <a:ln cap="flat" cmpd="sng" w="127000">
              <a:solidFill>
                <a:srgbClr val="EB220C"/>
              </a:solidFill>
              <a:prstDash val="solid"/>
              <a:miter lim="400000"/>
              <a:headEnd len="med" w="med" type="triangle"/>
              <a:tailEnd len="sm" w="sm" type="none"/>
            </a:ln>
          </p:spPr>
        </p:cxnSp>
        <p:pic>
          <p:nvPicPr>
            <p:cNvPr descr="Image" id="392" name="Google Shape;392;p6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240828" y="355208"/>
              <a:ext cx="639442" cy="6394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397" name="Google Shape;39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521" y="1881188"/>
            <a:ext cx="8262328" cy="1944168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61"/>
          <p:cNvSpPr txBox="1"/>
          <p:nvPr/>
        </p:nvSpPr>
        <p:spPr>
          <a:xfrm>
            <a:off x="883242" y="2288756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sp>
        <p:nvSpPr>
          <p:cNvPr id="399" name="Google Shape;399;p61"/>
          <p:cNvSpPr txBox="1"/>
          <p:nvPr/>
        </p:nvSpPr>
        <p:spPr>
          <a:xfrm>
            <a:off x="955381" y="3325143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sp>
        <p:nvSpPr>
          <p:cNvPr id="400" name="Google Shape;400;p61"/>
          <p:cNvSpPr txBox="1"/>
          <p:nvPr/>
        </p:nvSpPr>
        <p:spPr>
          <a:xfrm>
            <a:off x="3274706" y="2531094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sp>
        <p:nvSpPr>
          <p:cNvPr id="401" name="Google Shape;401;p61"/>
          <p:cNvSpPr txBox="1"/>
          <p:nvPr/>
        </p:nvSpPr>
        <p:spPr>
          <a:xfrm>
            <a:off x="3274706" y="3325143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=2</a:t>
            </a:r>
            <a:endParaRPr sz="500"/>
          </a:p>
        </p:txBody>
      </p:sp>
      <p:sp>
        <p:nvSpPr>
          <p:cNvPr id="402" name="Google Shape;402;p61"/>
          <p:cNvSpPr txBox="1"/>
          <p:nvPr/>
        </p:nvSpPr>
        <p:spPr>
          <a:xfrm>
            <a:off x="5666177" y="2531100"/>
            <a:ext cx="58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=-1</a:t>
            </a:r>
            <a:endParaRPr sz="500"/>
          </a:p>
        </p:txBody>
      </p:sp>
      <p:sp>
        <p:nvSpPr>
          <p:cNvPr id="403" name="Google Shape;403;p61"/>
          <p:cNvSpPr txBox="1"/>
          <p:nvPr/>
        </p:nvSpPr>
        <p:spPr>
          <a:xfrm>
            <a:off x="8154551" y="2531094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pic>
        <p:nvPicPr>
          <p:cNvPr descr="Image" id="404" name="Google Shape;404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6384" y="3149111"/>
            <a:ext cx="633718" cy="366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05" name="Google Shape;405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8233" y="3232179"/>
            <a:ext cx="813512" cy="395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06" name="Google Shape;406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48016" y="3246467"/>
            <a:ext cx="666639" cy="366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07" name="Google Shape;407;p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51466" y="3623651"/>
            <a:ext cx="1255792" cy="366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08" name="Google Shape;408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45957" y="3915248"/>
            <a:ext cx="2443070" cy="395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9" name="Google Shape;409;p61"/>
          <p:cNvGrpSpPr/>
          <p:nvPr/>
        </p:nvGrpSpPr>
        <p:grpSpPr>
          <a:xfrm>
            <a:off x="335967" y="4535286"/>
            <a:ext cx="3262074" cy="410602"/>
            <a:chOff x="0" y="0"/>
            <a:chExt cx="8698865" cy="1094938"/>
          </a:xfrm>
        </p:grpSpPr>
        <p:pic>
          <p:nvPicPr>
            <p:cNvPr descr="Image" id="410" name="Google Shape;410;p6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0" y="0"/>
              <a:ext cx="1778000" cy="10949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" id="411" name="Google Shape;411;p6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980203" y="20573"/>
              <a:ext cx="6718662" cy="10535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" name="Google Shape;412;p61"/>
          <p:cNvGrpSpPr/>
          <p:nvPr/>
        </p:nvGrpSpPr>
        <p:grpSpPr>
          <a:xfrm>
            <a:off x="1240828" y="348225"/>
            <a:ext cx="6662259" cy="646426"/>
            <a:chOff x="1240828" y="348225"/>
            <a:chExt cx="6662259" cy="646426"/>
          </a:xfrm>
        </p:grpSpPr>
        <p:sp>
          <p:nvSpPr>
            <p:cNvPr id="413" name="Google Shape;413;p61"/>
            <p:cNvSpPr txBox="1"/>
            <p:nvPr/>
          </p:nvSpPr>
          <p:spPr>
            <a:xfrm>
              <a:off x="2311500" y="348225"/>
              <a:ext cx="5418300" cy="5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775" lIns="26775" spcFirstLastPara="1" rIns="26775" wrap="square" tIns="26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B220C"/>
                </a:buClr>
                <a:buFont typeface="Helvetica Neue"/>
                <a:buNone/>
              </a:pPr>
              <a:r>
                <a:rPr b="1" i="0" lang="en" sz="3100" u="none" cap="none" strike="noStrike">
                  <a:solidFill>
                    <a:srgbClr val="EB220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Backward propagation</a:t>
              </a:r>
              <a:endParaRPr sz="500"/>
            </a:p>
          </p:txBody>
        </p:sp>
        <p:cxnSp>
          <p:nvCxnSpPr>
            <p:cNvPr id="414" name="Google Shape;414;p61"/>
            <p:cNvCxnSpPr/>
            <p:nvPr/>
          </p:nvCxnSpPr>
          <p:spPr>
            <a:xfrm>
              <a:off x="1931887" y="970984"/>
              <a:ext cx="5971200" cy="0"/>
            </a:xfrm>
            <a:prstGeom prst="straightConnector1">
              <a:avLst/>
            </a:prstGeom>
            <a:noFill/>
            <a:ln cap="flat" cmpd="sng" w="127000">
              <a:solidFill>
                <a:srgbClr val="EB220C"/>
              </a:solidFill>
              <a:prstDash val="solid"/>
              <a:miter lim="400000"/>
              <a:headEnd len="med" w="med" type="triangle"/>
              <a:tailEnd len="sm" w="sm" type="none"/>
            </a:ln>
          </p:spPr>
        </p:cxnSp>
        <p:pic>
          <p:nvPicPr>
            <p:cNvPr descr="Image" id="415" name="Google Shape;415;p6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240828" y="355208"/>
              <a:ext cx="639442" cy="6394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420" name="Google Shape;42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521" y="1881188"/>
            <a:ext cx="8262328" cy="1944168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62"/>
          <p:cNvSpPr txBox="1"/>
          <p:nvPr/>
        </p:nvSpPr>
        <p:spPr>
          <a:xfrm>
            <a:off x="883242" y="2288756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sp>
        <p:nvSpPr>
          <p:cNvPr id="422" name="Google Shape;422;p62"/>
          <p:cNvSpPr txBox="1"/>
          <p:nvPr/>
        </p:nvSpPr>
        <p:spPr>
          <a:xfrm>
            <a:off x="955381" y="3325143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sp>
        <p:nvSpPr>
          <p:cNvPr id="423" name="Google Shape;423;p62"/>
          <p:cNvSpPr txBox="1"/>
          <p:nvPr/>
        </p:nvSpPr>
        <p:spPr>
          <a:xfrm>
            <a:off x="3274706" y="2531094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sp>
        <p:nvSpPr>
          <p:cNvPr id="424" name="Google Shape;424;p62"/>
          <p:cNvSpPr txBox="1"/>
          <p:nvPr/>
        </p:nvSpPr>
        <p:spPr>
          <a:xfrm>
            <a:off x="3274706" y="3325143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=2</a:t>
            </a:r>
            <a:endParaRPr sz="500"/>
          </a:p>
        </p:txBody>
      </p:sp>
      <p:sp>
        <p:nvSpPr>
          <p:cNvPr id="425" name="Google Shape;425;p62"/>
          <p:cNvSpPr txBox="1"/>
          <p:nvPr/>
        </p:nvSpPr>
        <p:spPr>
          <a:xfrm>
            <a:off x="5666177" y="2531100"/>
            <a:ext cx="58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=-1</a:t>
            </a:r>
            <a:endParaRPr sz="500"/>
          </a:p>
        </p:txBody>
      </p:sp>
      <p:sp>
        <p:nvSpPr>
          <p:cNvPr id="426" name="Google Shape;426;p62"/>
          <p:cNvSpPr txBox="1"/>
          <p:nvPr/>
        </p:nvSpPr>
        <p:spPr>
          <a:xfrm>
            <a:off x="8154551" y="2531094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pic>
        <p:nvPicPr>
          <p:cNvPr descr="Image" id="427" name="Google Shape;427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6384" y="3149111"/>
            <a:ext cx="633718" cy="366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28" name="Google Shape;428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8233" y="3232179"/>
            <a:ext cx="813512" cy="395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29" name="Google Shape;429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48016" y="3246467"/>
            <a:ext cx="666639" cy="366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30" name="Google Shape;430;p6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51466" y="3623651"/>
            <a:ext cx="1255792" cy="366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31" name="Google Shape;431;p6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945957" y="3915248"/>
            <a:ext cx="2443070" cy="395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2" name="Google Shape;432;p62"/>
          <p:cNvGrpSpPr/>
          <p:nvPr/>
        </p:nvGrpSpPr>
        <p:grpSpPr>
          <a:xfrm>
            <a:off x="335967" y="4535286"/>
            <a:ext cx="3262074" cy="410602"/>
            <a:chOff x="0" y="0"/>
            <a:chExt cx="8698865" cy="1094938"/>
          </a:xfrm>
        </p:grpSpPr>
        <p:pic>
          <p:nvPicPr>
            <p:cNvPr descr="Image" id="433" name="Google Shape;433;p6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0" y="0"/>
              <a:ext cx="1778000" cy="10949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" id="434" name="Google Shape;434;p62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980203" y="20573"/>
              <a:ext cx="6718662" cy="10535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5" name="Google Shape;435;p62"/>
          <p:cNvGrpSpPr/>
          <p:nvPr/>
        </p:nvGrpSpPr>
        <p:grpSpPr>
          <a:xfrm>
            <a:off x="4069882" y="4339491"/>
            <a:ext cx="2798656" cy="802241"/>
            <a:chOff x="0" y="0"/>
            <a:chExt cx="7463083" cy="2139310"/>
          </a:xfrm>
        </p:grpSpPr>
        <p:pic>
          <p:nvPicPr>
            <p:cNvPr descr="Image" id="436" name="Google Shape;436;p62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77800" y="114300"/>
              <a:ext cx="7100160" cy="16822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" id="437" name="Google Shape;437;p62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0" y="0"/>
              <a:ext cx="7463083" cy="213931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Oval" id="438" name="Google Shape;438;p6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673899" y="4224382"/>
            <a:ext cx="513922" cy="4106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9" name="Google Shape;439;p62"/>
          <p:cNvGrpSpPr/>
          <p:nvPr/>
        </p:nvGrpSpPr>
        <p:grpSpPr>
          <a:xfrm>
            <a:off x="1240828" y="348225"/>
            <a:ext cx="6662259" cy="646426"/>
            <a:chOff x="1240828" y="348225"/>
            <a:chExt cx="6662259" cy="646426"/>
          </a:xfrm>
        </p:grpSpPr>
        <p:sp>
          <p:nvSpPr>
            <p:cNvPr id="440" name="Google Shape;440;p62"/>
            <p:cNvSpPr txBox="1"/>
            <p:nvPr/>
          </p:nvSpPr>
          <p:spPr>
            <a:xfrm>
              <a:off x="2311500" y="348225"/>
              <a:ext cx="5418300" cy="5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775" lIns="26775" spcFirstLastPara="1" rIns="26775" wrap="square" tIns="26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B220C"/>
                </a:buClr>
                <a:buFont typeface="Helvetica Neue"/>
                <a:buNone/>
              </a:pPr>
              <a:r>
                <a:rPr b="1" i="0" lang="en" sz="3100" u="none" cap="none" strike="noStrike">
                  <a:solidFill>
                    <a:srgbClr val="EB220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Backward propagation</a:t>
              </a:r>
              <a:endParaRPr sz="500"/>
            </a:p>
          </p:txBody>
        </p:sp>
        <p:cxnSp>
          <p:nvCxnSpPr>
            <p:cNvPr id="441" name="Google Shape;441;p62"/>
            <p:cNvCxnSpPr/>
            <p:nvPr/>
          </p:nvCxnSpPr>
          <p:spPr>
            <a:xfrm>
              <a:off x="1931887" y="970984"/>
              <a:ext cx="5971200" cy="0"/>
            </a:xfrm>
            <a:prstGeom prst="straightConnector1">
              <a:avLst/>
            </a:prstGeom>
            <a:noFill/>
            <a:ln cap="flat" cmpd="sng" w="127000">
              <a:solidFill>
                <a:srgbClr val="EB220C"/>
              </a:solidFill>
              <a:prstDash val="solid"/>
              <a:miter lim="400000"/>
              <a:headEnd len="med" w="med" type="triangle"/>
              <a:tailEnd len="sm" w="sm" type="none"/>
            </a:ln>
          </p:spPr>
        </p:cxnSp>
        <p:pic>
          <p:nvPicPr>
            <p:cNvPr descr="Image" id="442" name="Google Shape;442;p62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1240828" y="355208"/>
              <a:ext cx="639442" cy="6394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3"/>
          <p:cNvSpPr txBox="1"/>
          <p:nvPr>
            <p:ph type="title"/>
          </p:nvPr>
        </p:nvSpPr>
        <p:spPr>
          <a:xfrm>
            <a:off x="284537" y="210584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Exercise 4-1: x = 2, y=4, w=1</a:t>
            </a:r>
            <a:endParaRPr/>
          </a:p>
        </p:txBody>
      </p:sp>
      <p:pic>
        <p:nvPicPr>
          <p:cNvPr descr="Image" id="448" name="Google Shape;44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521" y="1881188"/>
            <a:ext cx="8262328" cy="1944168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63"/>
          <p:cNvSpPr txBox="1"/>
          <p:nvPr/>
        </p:nvSpPr>
        <p:spPr>
          <a:xfrm>
            <a:off x="883242" y="2288756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=2</a:t>
            </a:r>
            <a:endParaRPr sz="500"/>
          </a:p>
        </p:txBody>
      </p:sp>
      <p:sp>
        <p:nvSpPr>
          <p:cNvPr id="450" name="Google Shape;450;p63"/>
          <p:cNvSpPr txBox="1"/>
          <p:nvPr/>
        </p:nvSpPr>
        <p:spPr>
          <a:xfrm>
            <a:off x="955381" y="3325143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sp>
        <p:nvSpPr>
          <p:cNvPr id="451" name="Google Shape;451;p63"/>
          <p:cNvSpPr txBox="1"/>
          <p:nvPr/>
        </p:nvSpPr>
        <p:spPr>
          <a:xfrm>
            <a:off x="3274706" y="2531094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=2</a:t>
            </a:r>
            <a:endParaRPr sz="500"/>
          </a:p>
        </p:txBody>
      </p:sp>
      <p:sp>
        <p:nvSpPr>
          <p:cNvPr id="452" name="Google Shape;452;p63"/>
          <p:cNvSpPr txBox="1"/>
          <p:nvPr/>
        </p:nvSpPr>
        <p:spPr>
          <a:xfrm>
            <a:off x="3274706" y="3325143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=4</a:t>
            </a:r>
            <a:endParaRPr sz="500"/>
          </a:p>
        </p:txBody>
      </p:sp>
      <p:sp>
        <p:nvSpPr>
          <p:cNvPr id="453" name="Google Shape;453;p63"/>
          <p:cNvSpPr txBox="1"/>
          <p:nvPr/>
        </p:nvSpPr>
        <p:spPr>
          <a:xfrm>
            <a:off x="5666177" y="2531100"/>
            <a:ext cx="610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=-2</a:t>
            </a:r>
            <a:endParaRPr sz="500"/>
          </a:p>
        </p:txBody>
      </p:sp>
      <p:sp>
        <p:nvSpPr>
          <p:cNvPr id="454" name="Google Shape;454;p63"/>
          <p:cNvSpPr txBox="1"/>
          <p:nvPr/>
        </p:nvSpPr>
        <p:spPr>
          <a:xfrm>
            <a:off x="8154551" y="2531094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=4</a:t>
            </a:r>
            <a:endParaRPr sz="500"/>
          </a:p>
        </p:txBody>
      </p:sp>
      <p:pic>
        <p:nvPicPr>
          <p:cNvPr descr="Image" id="455" name="Google Shape;455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76384" y="3149111"/>
            <a:ext cx="633718" cy="366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56" name="Google Shape;456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8233" y="3232179"/>
            <a:ext cx="813512" cy="395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57" name="Google Shape;457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48016" y="3246467"/>
            <a:ext cx="666639" cy="366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58" name="Google Shape;458;p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854" y="4006846"/>
            <a:ext cx="814388" cy="501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463" name="Google Shape;463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5732" y="3182540"/>
            <a:ext cx="934760" cy="3662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64" name="Google Shape;464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521" y="1887450"/>
            <a:ext cx="8262328" cy="19441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65" name="Google Shape;465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5141" y="1291097"/>
            <a:ext cx="3941608" cy="34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66" name="Google Shape;466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6077" y="1291097"/>
            <a:ext cx="2166342" cy="347314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4"/>
          <p:cNvSpPr txBox="1"/>
          <p:nvPr/>
        </p:nvSpPr>
        <p:spPr>
          <a:xfrm>
            <a:off x="1219488" y="415025"/>
            <a:ext cx="66384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Exercise 4-2: x = 1, y=2, </a:t>
            </a:r>
            <a:r>
              <a:rPr b="0" i="1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w=1, b=2</a:t>
            </a:r>
            <a:endParaRPr sz="500"/>
          </a:p>
        </p:txBody>
      </p:sp>
      <p:sp>
        <p:nvSpPr>
          <p:cNvPr id="468" name="Google Shape;468;p64"/>
          <p:cNvSpPr/>
          <p:nvPr/>
        </p:nvSpPr>
        <p:spPr>
          <a:xfrm>
            <a:off x="7136173" y="1056631"/>
            <a:ext cx="1998000" cy="140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469" name="Google Shape;469;p6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73762" y="2501459"/>
            <a:ext cx="387646" cy="347349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64"/>
          <p:cNvSpPr/>
          <p:nvPr/>
        </p:nvSpPr>
        <p:spPr>
          <a:xfrm>
            <a:off x="2661290" y="2453694"/>
            <a:ext cx="1083600" cy="44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1" name="Google Shape;471;p64"/>
          <p:cNvSpPr/>
          <p:nvPr/>
        </p:nvSpPr>
        <p:spPr>
          <a:xfrm>
            <a:off x="2818225" y="2634249"/>
            <a:ext cx="539400" cy="549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rPr b="0" i="0" lang="en" sz="26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+</a:t>
            </a:r>
            <a:endParaRPr sz="500"/>
          </a:p>
        </p:txBody>
      </p:sp>
      <p:sp>
        <p:nvSpPr>
          <p:cNvPr id="472" name="Google Shape;472;p64"/>
          <p:cNvSpPr/>
          <p:nvPr/>
        </p:nvSpPr>
        <p:spPr>
          <a:xfrm>
            <a:off x="3931998" y="2514306"/>
            <a:ext cx="4437000" cy="78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3" name="Google Shape;473;p64"/>
          <p:cNvSpPr/>
          <p:nvPr/>
        </p:nvSpPr>
        <p:spPr>
          <a:xfrm>
            <a:off x="2928481" y="3351308"/>
            <a:ext cx="1024200" cy="78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4" name="Google Shape;474;p64"/>
          <p:cNvSpPr/>
          <p:nvPr/>
        </p:nvSpPr>
        <p:spPr>
          <a:xfrm>
            <a:off x="3414517" y="3004708"/>
            <a:ext cx="1024200" cy="788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5" name="Google Shape;475;p64"/>
          <p:cNvSpPr txBox="1"/>
          <p:nvPr/>
        </p:nvSpPr>
        <p:spPr>
          <a:xfrm>
            <a:off x="2225900" y="3337397"/>
            <a:ext cx="2331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b="1" i="0" lang="en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 sz="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480" name="Google Shape;48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1559" y="144261"/>
            <a:ext cx="1070893" cy="1070893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65"/>
          <p:cNvSpPr txBox="1"/>
          <p:nvPr>
            <p:ph type="title"/>
          </p:nvPr>
        </p:nvSpPr>
        <p:spPr>
          <a:xfrm>
            <a:off x="284537" y="210584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Data and </a:t>
            </a:r>
            <a:r>
              <a:rPr b="1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Variable</a:t>
            </a:r>
            <a:endParaRPr/>
          </a:p>
        </p:txBody>
      </p:sp>
      <p:sp>
        <p:nvSpPr>
          <p:cNvPr id="482" name="Google Shape;482;p65"/>
          <p:cNvSpPr/>
          <p:nvPr/>
        </p:nvSpPr>
        <p:spPr>
          <a:xfrm>
            <a:off x="174540" y="3134440"/>
            <a:ext cx="4829100" cy="191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11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3" name="Google Shape;483;p65"/>
          <p:cNvSpPr txBox="1"/>
          <p:nvPr/>
        </p:nvSpPr>
        <p:spPr>
          <a:xfrm>
            <a:off x="3869111" y="4897605"/>
            <a:ext cx="5279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b="1" i="0" lang="en" sz="12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http://pytorch.org/docs/master/notes/autograd.html?highlight=variable</a:t>
            </a:r>
            <a:r>
              <a:rPr b="1" i="0" lang="en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500"/>
          </a:p>
        </p:txBody>
      </p:sp>
      <p:sp>
        <p:nvSpPr>
          <p:cNvPr id="484" name="Google Shape;484;p65"/>
          <p:cNvSpPr txBox="1"/>
          <p:nvPr/>
        </p:nvSpPr>
        <p:spPr>
          <a:xfrm>
            <a:off x="533400" y="1589225"/>
            <a:ext cx="7931100" cy="24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torch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torch.autograd </a:t>
            </a: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Variable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x_data = [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1.0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2.0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3.0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y_data = [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2.0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4.0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6.0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 = Variable(torch.Tensor([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1.0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 </a:t>
            </a:r>
            <a:r>
              <a:rPr lang="en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requires_grad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 </a:t>
            </a: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Any random value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ynamic_graph.gif" id="489" name="Google Shape;48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689" y="687538"/>
            <a:ext cx="7858620" cy="4405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490" name="Google Shape;490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1559" y="144261"/>
            <a:ext cx="1070893" cy="1070893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66"/>
          <p:cNvSpPr txBox="1"/>
          <p:nvPr>
            <p:ph type="title"/>
          </p:nvPr>
        </p:nvSpPr>
        <p:spPr>
          <a:xfrm>
            <a:off x="284537" y="210584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Data and </a:t>
            </a:r>
            <a:r>
              <a:rPr b="1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Variable</a:t>
            </a:r>
            <a:endParaRPr/>
          </a:p>
        </p:txBody>
      </p:sp>
      <p:sp>
        <p:nvSpPr>
          <p:cNvPr id="492" name="Google Shape;492;p66"/>
          <p:cNvSpPr txBox="1"/>
          <p:nvPr/>
        </p:nvSpPr>
        <p:spPr>
          <a:xfrm>
            <a:off x="3869111" y="4897605"/>
            <a:ext cx="52791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b="1" i="0" lang="en" sz="1200" u="sng" cap="none" strike="noStrik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5"/>
              </a:rPr>
              <a:t>http://pytorch.org/docs/master/notes/autograd.html?highlight=variable</a:t>
            </a:r>
            <a:r>
              <a:rPr b="1" i="0" lang="en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5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497" name="Google Shape;49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1559" y="144261"/>
            <a:ext cx="1070893" cy="1070893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67"/>
          <p:cNvSpPr txBox="1"/>
          <p:nvPr>
            <p:ph type="title"/>
          </p:nvPr>
        </p:nvSpPr>
        <p:spPr>
          <a:xfrm>
            <a:off x="284537" y="210584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Model and Loss</a:t>
            </a:r>
            <a:endParaRPr/>
          </a:p>
        </p:txBody>
      </p:sp>
      <p:sp>
        <p:nvSpPr>
          <p:cNvPr id="499" name="Google Shape;499;p67"/>
          <p:cNvSpPr txBox="1"/>
          <p:nvPr/>
        </p:nvSpPr>
        <p:spPr>
          <a:xfrm>
            <a:off x="0" y="685800"/>
            <a:ext cx="79464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9D9D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>
                <a:solidFill>
                  <a:srgbClr val="D9D9D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torch</a:t>
            </a:r>
            <a:endParaRPr>
              <a:solidFill>
                <a:srgbClr val="D9D9D9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9D9D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en">
                <a:solidFill>
                  <a:srgbClr val="D9D9D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torch.autograd </a:t>
            </a:r>
            <a:r>
              <a:rPr b="1" lang="en">
                <a:solidFill>
                  <a:srgbClr val="D9D9D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>
                <a:solidFill>
                  <a:srgbClr val="D9D9D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Variable</a:t>
            </a:r>
            <a:endParaRPr>
              <a:solidFill>
                <a:srgbClr val="D9D9D9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D9D9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x_data = [1.0, 2.0, 3.0]</a:t>
            </a:r>
            <a:endParaRPr>
              <a:solidFill>
                <a:srgbClr val="D9D9D9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y_data = [2.0, 4.0, 6.0]</a:t>
            </a:r>
            <a:endParaRPr>
              <a:solidFill>
                <a:srgbClr val="D9D9D9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9D9D9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 = Variable(torch.Tensor([1.0]),  requires_grad=</a:t>
            </a:r>
            <a:r>
              <a:rPr b="1" lang="en">
                <a:solidFill>
                  <a:srgbClr val="D9D9D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en">
                <a:solidFill>
                  <a:srgbClr val="D9D9D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 </a:t>
            </a:r>
            <a:r>
              <a:rPr i="1" lang="en">
                <a:solidFill>
                  <a:srgbClr val="D9D9D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Any random value</a:t>
            </a:r>
            <a:endParaRPr i="1">
              <a:solidFill>
                <a:srgbClr val="D9D9D9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our model forward pass</a:t>
            </a:r>
            <a:endParaRPr i="1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forward(x):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 * w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Loss function</a:t>
            </a:r>
            <a:endParaRPr i="1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loss(x, y):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y_pred = forward(x)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(y_pred - y) * (y_pred - y)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Before training</a:t>
            </a:r>
            <a:endParaRPr i="1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"predict (before training)"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forward(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).data[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8"/>
          <p:cNvSpPr txBox="1"/>
          <p:nvPr>
            <p:ph type="title"/>
          </p:nvPr>
        </p:nvSpPr>
        <p:spPr>
          <a:xfrm>
            <a:off x="315750" y="222975"/>
            <a:ext cx="85125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Training: forward, backward, and update weight</a:t>
            </a:r>
            <a:endParaRPr/>
          </a:p>
        </p:txBody>
      </p:sp>
      <p:sp>
        <p:nvSpPr>
          <p:cNvPr id="505" name="Google Shape;505;p68"/>
          <p:cNvSpPr txBox="1"/>
          <p:nvPr/>
        </p:nvSpPr>
        <p:spPr>
          <a:xfrm>
            <a:off x="76200" y="1143000"/>
            <a:ext cx="8828400" cy="39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Training loop</a:t>
            </a:r>
            <a:endParaRPr i="1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epoch </a:t>
            </a: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x_val, y_val </a:t>
            </a: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zip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(x_data, y_data):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l = loss(x_val, y_val)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l.backward()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\t</a:t>
            </a:r>
            <a:r>
              <a:rPr b="1" lang="en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grad: "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x_val, y_val, w.grad.data[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w.data = w.data -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0.01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 w.grad.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Manually zero the gradients after updating weights</a:t>
            </a:r>
            <a:endParaRPr i="1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w.grad.data.zero_()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"progress:"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epoch, l.data[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After training</a:t>
            </a:r>
            <a:endParaRPr i="1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"predict (after training)"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forward(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).data[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9"/>
          <p:cNvSpPr txBox="1"/>
          <p:nvPr>
            <p:ph type="title"/>
          </p:nvPr>
        </p:nvSpPr>
        <p:spPr>
          <a:xfrm>
            <a:off x="284537" y="210584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Output</a:t>
            </a:r>
            <a:endParaRPr/>
          </a:p>
        </p:txBody>
      </p:sp>
      <p:pic>
        <p:nvPicPr>
          <p:cNvPr descr="Image" id="511" name="Google Shape;511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7509" y="263217"/>
            <a:ext cx="2907968" cy="4592595"/>
          </a:xfrm>
          <a:prstGeom prst="rect">
            <a:avLst/>
          </a:prstGeom>
          <a:noFill/>
          <a:ln>
            <a:noFill/>
          </a:ln>
          <a:effectLst>
            <a:outerShdw blurRad="355600" rotWithShape="0" dir="5400000" dist="177800">
              <a:srgbClr val="000000">
                <a:alpha val="69800"/>
              </a:srgbClr>
            </a:outerShdw>
          </a:effectLst>
        </p:spPr>
      </p:pic>
      <p:sp>
        <p:nvSpPr>
          <p:cNvPr id="512" name="Google Shape;512;p69"/>
          <p:cNvSpPr txBox="1"/>
          <p:nvPr/>
        </p:nvSpPr>
        <p:spPr>
          <a:xfrm>
            <a:off x="0" y="1752600"/>
            <a:ext cx="5886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Training loop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epoch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x_val, y_val 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zip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(x_data, y_data):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l = loss(x_val, y_val)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l.backward()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b="1"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\t</a:t>
            </a:r>
            <a:r>
              <a:rPr b="1" lang="en" sz="12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grad: 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x_val, y_val, w.grad.data[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w.data = w.data -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0.01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* w.grad.data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Manually zero the gradients after updating weights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w.grad.data.zero_()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"progress:"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epoch, l.data[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After training</a:t>
            </a:r>
            <a:endParaRPr i="1" sz="12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" sz="12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"predict (after training)"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 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forward(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).data[</a:t>
            </a:r>
            <a:r>
              <a:rPr lang="en" sz="12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517" name="Google Shape;517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1559" y="144261"/>
            <a:ext cx="1070893" cy="10708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18" name="Google Shape;518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0639" y="1649478"/>
            <a:ext cx="5104151" cy="2716417"/>
          </a:xfrm>
          <a:prstGeom prst="rect">
            <a:avLst/>
          </a:prstGeom>
          <a:noFill/>
          <a:ln>
            <a:noFill/>
          </a:ln>
          <a:effectLst>
            <a:outerShdw blurRad="355600" rotWithShape="0" dir="5400000" dist="177800">
              <a:srgbClr val="000000">
                <a:alpha val="69800"/>
              </a:srgbClr>
            </a:outerShdw>
          </a:effectLst>
        </p:spPr>
      </p:pic>
      <p:pic>
        <p:nvPicPr>
          <p:cNvPr descr="Image" id="519" name="Google Shape;519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3437" y="77897"/>
            <a:ext cx="2933495" cy="4976568"/>
          </a:xfrm>
          <a:prstGeom prst="rect">
            <a:avLst/>
          </a:prstGeom>
          <a:noFill/>
          <a:ln>
            <a:noFill/>
          </a:ln>
          <a:effectLst>
            <a:outerShdw blurRad="355600" rotWithShape="0" dir="5400000" dist="177800">
              <a:srgbClr val="000000">
                <a:alpha val="69800"/>
              </a:srgbClr>
            </a:outerShdw>
          </a:effectLst>
        </p:spPr>
      </p:pic>
      <p:sp>
        <p:nvSpPr>
          <p:cNvPr id="520" name="Google Shape;520;p70"/>
          <p:cNvSpPr txBox="1"/>
          <p:nvPr>
            <p:ph type="title"/>
          </p:nvPr>
        </p:nvSpPr>
        <p:spPr>
          <a:xfrm>
            <a:off x="2454538" y="197840"/>
            <a:ext cx="61107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Output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(from numeric gradient computation)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525" name="Google Shape;525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1559" y="144261"/>
            <a:ext cx="1070893" cy="10708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526" name="Google Shape;52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3211" y="1066658"/>
            <a:ext cx="2933498" cy="4976568"/>
          </a:xfrm>
          <a:prstGeom prst="rect">
            <a:avLst/>
          </a:prstGeom>
          <a:noFill/>
          <a:ln>
            <a:noFill/>
          </a:ln>
          <a:effectLst>
            <a:outerShdw blurRad="355600" rotWithShape="0" dir="5400000" dist="177800">
              <a:srgbClr val="000000">
                <a:alpha val="69800"/>
              </a:srgbClr>
            </a:outerShdw>
          </a:effectLst>
        </p:spPr>
      </p:pic>
      <p:sp>
        <p:nvSpPr>
          <p:cNvPr id="527" name="Google Shape;527;p71"/>
          <p:cNvSpPr txBox="1"/>
          <p:nvPr>
            <p:ph type="title"/>
          </p:nvPr>
        </p:nvSpPr>
        <p:spPr>
          <a:xfrm>
            <a:off x="-1034727" y="-30965"/>
            <a:ext cx="61107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Output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(from numeric gradient computation)</a:t>
            </a:r>
            <a:endParaRPr/>
          </a:p>
        </p:txBody>
      </p:sp>
      <p:pic>
        <p:nvPicPr>
          <p:cNvPr descr="Image" id="528" name="Google Shape;528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6203" y="1066658"/>
            <a:ext cx="2933495" cy="4976568"/>
          </a:xfrm>
          <a:prstGeom prst="rect">
            <a:avLst/>
          </a:prstGeom>
          <a:noFill/>
          <a:ln>
            <a:noFill/>
          </a:ln>
          <a:effectLst>
            <a:outerShdw blurRad="355600" rotWithShape="0" dir="5400000" dist="177800">
              <a:srgbClr val="000000">
                <a:alpha val="69800"/>
              </a:srgbClr>
            </a:outerShdw>
          </a:effectLst>
        </p:spPr>
      </p:pic>
      <p:sp>
        <p:nvSpPr>
          <p:cNvPr id="529" name="Google Shape;529;p71"/>
          <p:cNvSpPr txBox="1"/>
          <p:nvPr/>
        </p:nvSpPr>
        <p:spPr>
          <a:xfrm>
            <a:off x="2722796" y="-30965"/>
            <a:ext cx="61107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Output </a:t>
            </a:r>
            <a:endParaRPr sz="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(computational graph)</a:t>
            </a:r>
            <a:endParaRPr sz="5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2"/>
          <p:cNvSpPr txBox="1"/>
          <p:nvPr>
            <p:ph type="title"/>
          </p:nvPr>
        </p:nvSpPr>
        <p:spPr>
          <a:xfrm>
            <a:off x="284537" y="210584"/>
            <a:ext cx="8280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PyTorch forward/backward</a:t>
            </a:r>
            <a:endParaRPr/>
          </a:p>
        </p:txBody>
      </p:sp>
      <p:pic>
        <p:nvPicPr>
          <p:cNvPr descr="Image" id="535" name="Google Shape;535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521" y="1881188"/>
            <a:ext cx="8262328" cy="1944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540" name="Google Shape;54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521" y="1881188"/>
            <a:ext cx="8262328" cy="1944168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73"/>
          <p:cNvSpPr txBox="1"/>
          <p:nvPr/>
        </p:nvSpPr>
        <p:spPr>
          <a:xfrm>
            <a:off x="883242" y="2288756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sp>
        <p:nvSpPr>
          <p:cNvPr id="542" name="Google Shape;542;p73"/>
          <p:cNvSpPr txBox="1"/>
          <p:nvPr/>
        </p:nvSpPr>
        <p:spPr>
          <a:xfrm>
            <a:off x="955381" y="3325143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sp>
        <p:nvSpPr>
          <p:cNvPr id="543" name="Google Shape;543;p73"/>
          <p:cNvSpPr txBox="1"/>
          <p:nvPr/>
        </p:nvSpPr>
        <p:spPr>
          <a:xfrm>
            <a:off x="3274706" y="2531094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sp>
        <p:nvSpPr>
          <p:cNvPr id="544" name="Google Shape;544;p73"/>
          <p:cNvSpPr txBox="1"/>
          <p:nvPr/>
        </p:nvSpPr>
        <p:spPr>
          <a:xfrm>
            <a:off x="3274706" y="3325143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=2</a:t>
            </a:r>
            <a:endParaRPr sz="500"/>
          </a:p>
        </p:txBody>
      </p:sp>
      <p:sp>
        <p:nvSpPr>
          <p:cNvPr id="545" name="Google Shape;545;p73"/>
          <p:cNvSpPr txBox="1"/>
          <p:nvPr/>
        </p:nvSpPr>
        <p:spPr>
          <a:xfrm>
            <a:off x="5666177" y="2531100"/>
            <a:ext cx="581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=-1</a:t>
            </a:r>
            <a:endParaRPr sz="500"/>
          </a:p>
        </p:txBody>
      </p:sp>
      <p:sp>
        <p:nvSpPr>
          <p:cNvPr id="546" name="Google Shape;546;p73"/>
          <p:cNvSpPr txBox="1"/>
          <p:nvPr/>
        </p:nvSpPr>
        <p:spPr>
          <a:xfrm>
            <a:off x="8154551" y="2531094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pic>
        <p:nvPicPr>
          <p:cNvPr descr="Image" id="547" name="Google Shape;547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854" y="4006846"/>
            <a:ext cx="814388" cy="50152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73"/>
          <p:cNvSpPr txBox="1"/>
          <p:nvPr>
            <p:ph type="title"/>
          </p:nvPr>
        </p:nvSpPr>
        <p:spPr>
          <a:xfrm>
            <a:off x="431561" y="226409"/>
            <a:ext cx="8280900" cy="165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Forward pass </a:t>
            </a:r>
            <a:endParaRPr/>
          </a:p>
          <a:p>
            <a:pPr indent="68580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  <a:t># Any random value</a:t>
            </a:r>
            <a:br>
              <a:rPr i="1" lang="en" sz="1800">
                <a:solidFill>
                  <a:srgbClr val="80808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i="0" lang="en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 = Variable(torch.Tensor([</a:t>
            </a:r>
            <a:r>
              <a:rPr i="0" lang="en" sz="1800" u="none" cap="none" strike="noStrike">
                <a:solidFill>
                  <a:srgbClr val="0432FF"/>
                </a:solidFill>
                <a:latin typeface="Consolas"/>
                <a:ea typeface="Consolas"/>
                <a:cs typeface="Consolas"/>
                <a:sym typeface="Consolas"/>
              </a:rPr>
              <a:t>1.0</a:t>
            </a:r>
            <a:r>
              <a:rPr i="0" lang="en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]),  </a:t>
            </a:r>
            <a:r>
              <a:rPr i="0" lang="en" sz="1800" u="none" cap="none" strike="noStrike">
                <a:solidFill>
                  <a:srgbClr val="661E99"/>
                </a:solidFill>
                <a:latin typeface="Consolas"/>
                <a:ea typeface="Consolas"/>
                <a:cs typeface="Consolas"/>
                <a:sym typeface="Consolas"/>
              </a:rPr>
              <a:t>requires_grad</a:t>
            </a:r>
            <a:r>
              <a:rPr i="0" lang="en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i="0" lang="en" sz="1800" u="none" cap="none" strike="noStrike">
                <a:solidFill>
                  <a:srgbClr val="011480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i="0" lang="en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0" lang="en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 = loss(x=1, y=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i="0" lang="en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i="0" lang="en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553" name="Google Shape;553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521" y="1881188"/>
            <a:ext cx="8262328" cy="1944168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74"/>
          <p:cNvSpPr txBox="1"/>
          <p:nvPr/>
        </p:nvSpPr>
        <p:spPr>
          <a:xfrm>
            <a:off x="883242" y="2288756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=2</a:t>
            </a:r>
            <a:endParaRPr sz="500"/>
          </a:p>
        </p:txBody>
      </p:sp>
      <p:sp>
        <p:nvSpPr>
          <p:cNvPr id="555" name="Google Shape;555;p74"/>
          <p:cNvSpPr txBox="1"/>
          <p:nvPr/>
        </p:nvSpPr>
        <p:spPr>
          <a:xfrm>
            <a:off x="955381" y="3325143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sp>
        <p:nvSpPr>
          <p:cNvPr id="556" name="Google Shape;556;p74"/>
          <p:cNvSpPr txBox="1"/>
          <p:nvPr/>
        </p:nvSpPr>
        <p:spPr>
          <a:xfrm>
            <a:off x="3274706" y="2531094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=2</a:t>
            </a:r>
            <a:endParaRPr sz="500"/>
          </a:p>
        </p:txBody>
      </p:sp>
      <p:sp>
        <p:nvSpPr>
          <p:cNvPr id="557" name="Google Shape;557;p74"/>
          <p:cNvSpPr txBox="1"/>
          <p:nvPr/>
        </p:nvSpPr>
        <p:spPr>
          <a:xfrm>
            <a:off x="3274706" y="3325143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=4</a:t>
            </a:r>
            <a:endParaRPr sz="500"/>
          </a:p>
        </p:txBody>
      </p:sp>
      <p:sp>
        <p:nvSpPr>
          <p:cNvPr id="558" name="Google Shape;558;p74"/>
          <p:cNvSpPr txBox="1"/>
          <p:nvPr/>
        </p:nvSpPr>
        <p:spPr>
          <a:xfrm>
            <a:off x="5666177" y="2531100"/>
            <a:ext cx="591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=-2</a:t>
            </a:r>
            <a:endParaRPr sz="500"/>
          </a:p>
        </p:txBody>
      </p:sp>
      <p:sp>
        <p:nvSpPr>
          <p:cNvPr id="559" name="Google Shape;559;p74"/>
          <p:cNvSpPr txBox="1"/>
          <p:nvPr/>
        </p:nvSpPr>
        <p:spPr>
          <a:xfrm>
            <a:off x="8154551" y="2531094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=4</a:t>
            </a:r>
            <a:endParaRPr sz="500"/>
          </a:p>
        </p:txBody>
      </p:sp>
      <p:pic>
        <p:nvPicPr>
          <p:cNvPr descr="Image" id="560" name="Google Shape;560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854" y="4006846"/>
            <a:ext cx="814388" cy="501521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74"/>
          <p:cNvSpPr txBox="1"/>
          <p:nvPr>
            <p:ph type="title"/>
          </p:nvPr>
        </p:nvSpPr>
        <p:spPr>
          <a:xfrm>
            <a:off x="263652" y="511784"/>
            <a:ext cx="8328900" cy="18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Back propagation: l.backward(</a:t>
            </a: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)</a:t>
            </a:r>
            <a:endParaRPr/>
          </a:p>
          <a:p>
            <a: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Font typeface="Arial"/>
              <a:buNone/>
            </a:pPr>
            <a:b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74"/>
          <p:cNvSpPr txBox="1"/>
          <p:nvPr/>
        </p:nvSpPr>
        <p:spPr>
          <a:xfrm>
            <a:off x="1582125" y="4006850"/>
            <a:ext cx="12867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0" lang="en" sz="2400" u="none" cap="none" strike="noStrike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</a:rPr>
              <a:t>w.grad</a:t>
            </a:r>
            <a:endParaRPr sz="2400">
              <a:solidFill>
                <a:srgbClr val="4A86E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567" name="Google Shape;567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521" y="1881188"/>
            <a:ext cx="8262328" cy="1944168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75"/>
          <p:cNvSpPr txBox="1"/>
          <p:nvPr/>
        </p:nvSpPr>
        <p:spPr>
          <a:xfrm>
            <a:off x="883242" y="2288756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=2</a:t>
            </a:r>
            <a:endParaRPr sz="500"/>
          </a:p>
        </p:txBody>
      </p:sp>
      <p:sp>
        <p:nvSpPr>
          <p:cNvPr id="569" name="Google Shape;569;p75"/>
          <p:cNvSpPr txBox="1"/>
          <p:nvPr/>
        </p:nvSpPr>
        <p:spPr>
          <a:xfrm>
            <a:off x="955381" y="3325143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sp>
        <p:nvSpPr>
          <p:cNvPr id="570" name="Google Shape;570;p75"/>
          <p:cNvSpPr txBox="1"/>
          <p:nvPr/>
        </p:nvSpPr>
        <p:spPr>
          <a:xfrm>
            <a:off x="3274706" y="2531094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=2</a:t>
            </a:r>
            <a:endParaRPr sz="500"/>
          </a:p>
        </p:txBody>
      </p:sp>
      <p:sp>
        <p:nvSpPr>
          <p:cNvPr id="571" name="Google Shape;571;p75"/>
          <p:cNvSpPr txBox="1"/>
          <p:nvPr/>
        </p:nvSpPr>
        <p:spPr>
          <a:xfrm>
            <a:off x="3274706" y="3325143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=4</a:t>
            </a:r>
            <a:endParaRPr sz="500"/>
          </a:p>
        </p:txBody>
      </p:sp>
      <p:sp>
        <p:nvSpPr>
          <p:cNvPr id="572" name="Google Shape;572;p75"/>
          <p:cNvSpPr txBox="1"/>
          <p:nvPr/>
        </p:nvSpPr>
        <p:spPr>
          <a:xfrm>
            <a:off x="5666176" y="2531100"/>
            <a:ext cx="542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=-2</a:t>
            </a:r>
            <a:endParaRPr sz="500"/>
          </a:p>
        </p:txBody>
      </p:sp>
      <p:sp>
        <p:nvSpPr>
          <p:cNvPr id="573" name="Google Shape;573;p75"/>
          <p:cNvSpPr txBox="1"/>
          <p:nvPr/>
        </p:nvSpPr>
        <p:spPr>
          <a:xfrm>
            <a:off x="8154551" y="2531094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=4</a:t>
            </a:r>
            <a:endParaRPr sz="500"/>
          </a:p>
        </p:txBody>
      </p:sp>
      <p:sp>
        <p:nvSpPr>
          <p:cNvPr id="574" name="Google Shape;574;p75"/>
          <p:cNvSpPr txBox="1"/>
          <p:nvPr>
            <p:ph type="title"/>
          </p:nvPr>
        </p:nvSpPr>
        <p:spPr>
          <a:xfrm>
            <a:off x="245052" y="210584"/>
            <a:ext cx="8328900" cy="20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Weight update (step)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5" name="Google Shape;575;p75"/>
          <p:cNvSpPr txBox="1"/>
          <p:nvPr/>
        </p:nvSpPr>
        <p:spPr>
          <a:xfrm>
            <a:off x="2440700" y="1608550"/>
            <a:ext cx="4793100" cy="3963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0" lang="en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w.data = w.data - </a:t>
            </a:r>
            <a:r>
              <a:rPr i="0" lang="en" sz="1800" u="none" cap="none" strike="noStrike">
                <a:solidFill>
                  <a:srgbClr val="0432FF"/>
                </a:solidFill>
                <a:latin typeface="Consolas"/>
                <a:ea typeface="Consolas"/>
                <a:cs typeface="Consolas"/>
                <a:sym typeface="Consolas"/>
              </a:rPr>
              <a:t>0.01 </a:t>
            </a:r>
            <a:r>
              <a:rPr i="0" lang="en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 w.grad.data</a:t>
            </a:r>
            <a:endParaRPr b="1"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descr="Image" id="576" name="Google Shape;576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854" y="4006846"/>
            <a:ext cx="814388" cy="501521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75"/>
          <p:cNvSpPr txBox="1"/>
          <p:nvPr/>
        </p:nvSpPr>
        <p:spPr>
          <a:xfrm>
            <a:off x="1582125" y="4006850"/>
            <a:ext cx="12867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0" lang="en" sz="2400" u="none" cap="none" strike="noStrike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</a:rPr>
              <a:t>w.grad</a:t>
            </a:r>
            <a:endParaRPr sz="2400">
              <a:solidFill>
                <a:srgbClr val="4A86E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582" name="Google Shape;582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521" y="1881188"/>
            <a:ext cx="8262328" cy="1944168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76"/>
          <p:cNvSpPr txBox="1"/>
          <p:nvPr/>
        </p:nvSpPr>
        <p:spPr>
          <a:xfrm>
            <a:off x="883242" y="2288756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=2</a:t>
            </a:r>
            <a:endParaRPr sz="500"/>
          </a:p>
        </p:txBody>
      </p:sp>
      <p:sp>
        <p:nvSpPr>
          <p:cNvPr id="584" name="Google Shape;584;p76"/>
          <p:cNvSpPr txBox="1"/>
          <p:nvPr/>
        </p:nvSpPr>
        <p:spPr>
          <a:xfrm>
            <a:off x="955381" y="3325143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=1</a:t>
            </a:r>
            <a:endParaRPr sz="500"/>
          </a:p>
        </p:txBody>
      </p:sp>
      <p:sp>
        <p:nvSpPr>
          <p:cNvPr id="585" name="Google Shape;585;p76"/>
          <p:cNvSpPr txBox="1"/>
          <p:nvPr/>
        </p:nvSpPr>
        <p:spPr>
          <a:xfrm>
            <a:off x="3274706" y="2531094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=2</a:t>
            </a:r>
            <a:endParaRPr sz="500"/>
          </a:p>
        </p:txBody>
      </p:sp>
      <p:sp>
        <p:nvSpPr>
          <p:cNvPr id="586" name="Google Shape;586;p76"/>
          <p:cNvSpPr txBox="1"/>
          <p:nvPr/>
        </p:nvSpPr>
        <p:spPr>
          <a:xfrm>
            <a:off x="3274706" y="3325143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=4</a:t>
            </a:r>
            <a:endParaRPr sz="500"/>
          </a:p>
        </p:txBody>
      </p:sp>
      <p:sp>
        <p:nvSpPr>
          <p:cNvPr id="587" name="Google Shape;587;p76"/>
          <p:cNvSpPr txBox="1"/>
          <p:nvPr/>
        </p:nvSpPr>
        <p:spPr>
          <a:xfrm>
            <a:off x="5666176" y="2531100"/>
            <a:ext cx="542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=-2</a:t>
            </a:r>
            <a:endParaRPr sz="500"/>
          </a:p>
        </p:txBody>
      </p:sp>
      <p:sp>
        <p:nvSpPr>
          <p:cNvPr id="588" name="Google Shape;588;p76"/>
          <p:cNvSpPr txBox="1"/>
          <p:nvPr/>
        </p:nvSpPr>
        <p:spPr>
          <a:xfrm>
            <a:off x="8154551" y="2531094"/>
            <a:ext cx="33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7F"/>
              </a:buClr>
              <a:buFont typeface="Helvetica Neue"/>
              <a:buNone/>
            </a:pPr>
            <a:r>
              <a:rPr b="1" i="0" lang="en" sz="1900" u="none" cap="none" strike="noStrike">
                <a:solidFill>
                  <a:srgbClr val="004C7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=4</a:t>
            </a:r>
            <a:endParaRPr sz="500"/>
          </a:p>
        </p:txBody>
      </p:sp>
      <p:sp>
        <p:nvSpPr>
          <p:cNvPr id="589" name="Google Shape;589;p76"/>
          <p:cNvSpPr txBox="1"/>
          <p:nvPr>
            <p:ph type="title"/>
          </p:nvPr>
        </p:nvSpPr>
        <p:spPr>
          <a:xfrm>
            <a:off x="245052" y="210584"/>
            <a:ext cx="8328900" cy="20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100" lIns="20100" spcFirstLastPara="1" rIns="20100" wrap="square" tIns="20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Exercise 4-3: implement computational graph and backprop using NumPy</a:t>
            </a:r>
            <a:endParaRPr b="0" i="0" sz="3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Image" id="590" name="Google Shape;590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854" y="4006846"/>
            <a:ext cx="814388" cy="501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7"/>
          <p:cNvSpPr txBox="1"/>
          <p:nvPr>
            <p:ph type="title"/>
          </p:nvPr>
        </p:nvSpPr>
        <p:spPr>
          <a:xfrm>
            <a:off x="431625" y="573732"/>
            <a:ext cx="8280900" cy="9645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r>
              <a:rPr lang="en"/>
              <a:t> 4-4: Compute gradients using computational graph (manually)</a:t>
            </a:r>
            <a:endParaRPr/>
          </a:p>
        </p:txBody>
      </p:sp>
      <p:pic>
        <p:nvPicPr>
          <p:cNvPr id="596" name="Google Shape;59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6625" y="1766832"/>
            <a:ext cx="2990748" cy="3300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8"/>
          <p:cNvSpPr txBox="1"/>
          <p:nvPr>
            <p:ph type="title"/>
          </p:nvPr>
        </p:nvSpPr>
        <p:spPr>
          <a:xfrm>
            <a:off x="431625" y="573732"/>
            <a:ext cx="8280900" cy="9645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 4-5: compute gradients using PyTorch </a:t>
            </a:r>
            <a:endParaRPr/>
          </a:p>
        </p:txBody>
      </p:sp>
      <p:pic>
        <p:nvPicPr>
          <p:cNvPr id="602" name="Google Shape;60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6625" y="1766832"/>
            <a:ext cx="2990748" cy="3300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607" name="Google Shape;607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43788" y="1188959"/>
            <a:ext cx="8334643" cy="39539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" id="608" name="Google Shape;608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8415" y="82999"/>
            <a:ext cx="2804502" cy="1393851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79"/>
          <p:cNvSpPr txBox="1"/>
          <p:nvPr/>
        </p:nvSpPr>
        <p:spPr>
          <a:xfrm>
            <a:off x="4323499" y="1758225"/>
            <a:ext cx="454020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Font typeface="Helvetica Neue"/>
              <a:buNone/>
            </a:pPr>
            <a:r>
              <a:rPr b="1" i="0" lang="en" sz="3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Lecture 5: </a:t>
            </a:r>
            <a:endParaRPr sz="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Font typeface="Helvetica Neue"/>
              <a:buNone/>
            </a:pPr>
            <a:r>
              <a:rPr b="1" i="0" lang="en" sz="3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Linear regression </a:t>
            </a:r>
            <a:endParaRPr sz="5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Font typeface="Helvetica Neue"/>
              <a:buNone/>
            </a:pPr>
            <a:r>
              <a:rPr b="1" i="0" lang="en" sz="34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the PyTorch way</a:t>
            </a:r>
            <a:endParaRPr sz="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